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원장님, 하루에 상담과 행정에 몇 시간을 쓰십니까? 조교 인건비로는 매월 얼마가 나갑니까? 오늘 저는 원장님의 학원을 노동 집약적 가내수공업에서, 한계 비용이 제로에 수렴하는 하이테크 IT 비즈니스로 바꿔드릴 시스템을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학생이 늘면 돈은 벌지만, 원장님의 삶은 사라집니다. 조교를 뽑자니 인건비가 수익을 갉아먹고, 퀄리티는 떨어집니다. 이 딜레마를 해결하지 못하면 영원히 학원에 갇혀 일해야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어차피 강의는 1타 강사들의 인강이 가장 훌륭합니다. 학부모가 동네 학원에 기대하는 진짜 본질은 '내 아이를 책상에 묶어두고 관리해 주는 것'입니다. 우리는 이 관리를 100% 자동화했습니다.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PALIN OS는 단순한 프로그램이 아닙니다. 원장님의 행정, 상담, 통제를 완벽히 대신해 주는 3대 모듈로 구성된 종합 운영체제입니다.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학생이 학부모의 감시 UI를 보게 되면 거부감을 느끼고 이탈합니다. PALIN OS는 철저한 권한 분리를 통해 학생에겐 게임 같은 경쟁을, 학부모에겐 안심과 결제 창구를, 원장에겐 절대 권력을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더 이상 조교가 문 앞에서 출석 체크를 할 필요가 없습니다. 미납자에게 전화해서 아쉬운 소리 할 필요도 없습니다. 버튼 한 번이면 끝납니다.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수백 명의 학생이 새벽 2시에 우울하다며 질문을 던져도, 원장님의 철학이 담긴 AI가 1:1로 밀착 멘토링을 해줍니다. 퀄리티의 타협 없이 무한대로 스케일업이 가능해집니다.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우리는 본사의 영업 방식을 원장님께 강요하지 않습니다. 신뢰형 멘토 모드로 학부모를 완벽히 록인할지, 적극적인 특강 제안으로 매출을 올릴지는 오직 원장님의 자유의사에 달려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감시 카메라로 감시하면 반발하지만, 랭킹과 게임으로 만들면 학생들은 스스로 밤을 새워 공부합니다.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학생의 핑계와 타협하지 않습니다. 정해진 룰대로 시스템이 기계처럼 엄격하게 작동하여 학원의 기강을 완성합니다.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원장님이 정성껏 가르쳐 명문대에 보낸 제자가 다시 후배를 가르치고, 그 수익의 일부가 학원 통장에 매달 꽂힙니다. 학생을 잘 키울수록 학원의 수익이 영구적으로 늘어나는 생태계입니다.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학원비 외에도 입시 리포트와 토큰 충전을 통해 학부모와 학생이 자발적으로 결제하는 다양한 부가 수익 파이프라인이 열립니다.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이것은 기획서가 아닙니다. 현재 일원학원에서 실제로 구동되며 완벽한 성과를 내고 있는 실시간 라이브 데이터입니다.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강의실 평수와 강사의 시간에 얽매이는 비즈니스는 한계가 명확합니다. PALIN OS를 통해 관리 원생 수를 50명에서 500명으로 늘려도, 원장님의 행정 시간은 0분 증가합니다.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할인으로 유혹하지 않습니다. PALIN OS는 단 1원도 깎아주지 않는 최고급 엔터프라이즈 정가를 고수합니다. 대신 선배 클리닉 매칭을 통해 구독료 이상의 수익을 돌려받는 자산이 되어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우리는 무분별하게 가맹점을 늘리지 않습니다. 반경 2km 내 선착순 딱 1개 학원만 독점 가맹을 맺습니다. 원장님이 먼저 잡지 않으시면 옆 경쟁 학원의 무기가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백문이 불여일견입니다. 지금 스마트폰을 꺼내 QR 코드를 찍고, 원장 모드와 학생 모드를 오가며 이 시스템의 압도적인 통제력을 직접 경험해 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복잡한 이전 작업이나 기계 설치가 필요 없습니다. 단 3일이면 기존 원생 명단 그대로 원장님의 학원에 완벽히 안착합니다.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단 3일이면 됩니다. 금요일에 신청하시면 다음 주 월요일부터 완전히 새로운 학원으로 재탄생합니다.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🎙️ [발표자 스크립트]</a:t>
            </a:r>
          </a:p>
          <a:p>
            <a:r>
              <a:t>경쟁 학원이 먼저 도입하기 전에, 지금 원장님의 학원에 독점 AI 관제 인프라를 구축하십시오.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Malgun Gothic"/>
              </a:defRPr>
            </a:pPr>
            <a:r>
              <a:t>THE ULTIMATE ACADEMY AUTOPILOT</a:t>
            </a:r>
          </a:p>
          <a:p>
            <a:pPr>
              <a:spcBef>
                <a:spcPts val="800"/>
              </a:spcBef>
              <a:defRPr sz="5400" b="1">
                <a:solidFill>
                  <a:srgbClr val="FFFFFF"/>
                </a:solidFill>
                <a:latin typeface="Malgun Gothic"/>
              </a:defRPr>
            </a:pPr>
            <a:r>
              <a:t>PALIN OS</a:t>
            </a:r>
          </a:p>
          <a:p>
            <a:pPr>
              <a:spcBef>
                <a:spcPts val="1200"/>
              </a:spcBef>
              <a:defRPr sz="2400" b="1">
                <a:solidFill>
                  <a:srgbClr val="D4AF37"/>
                </a:solidFill>
                <a:latin typeface="Malgun Gothic"/>
              </a:defRPr>
            </a:pPr>
            <a:r>
              <a:t>교육의 한계 비용을 '0'으로 만들다.</a:t>
            </a:r>
            <a:br/>
            <a:r>
              <a:t>1인 원장을 위한 궁극의 입시 관제 오토파일럿.</a:t>
            </a:r>
          </a:p>
          <a:p>
            <a:pPr>
              <a:spcBef>
                <a:spcPts val="1400"/>
              </a:spcBef>
              <a:defRPr sz="1500">
                <a:solidFill>
                  <a:srgbClr val="A0AEC0"/>
                </a:solidFill>
                <a:latin typeface="Malgun Gothic"/>
              </a:defRPr>
            </a:pPr>
            <a:r>
              <a:t>강사의 노동력을 파는 시대는 끝났습니다. 이제 '압도적인 통제 시스템'을 파십시오.</a:t>
            </a:r>
          </a:p>
          <a:p>
            <a:pPr>
              <a:spcBef>
                <a:spcPts val="3600"/>
              </a:spcBef>
              <a:defRPr sz="1100">
                <a:solidFill>
                  <a:srgbClr val="718096"/>
                </a:solidFill>
                <a:latin typeface="Malgun Gothic"/>
              </a:defRPr>
            </a:pPr>
            <a:r>
              <a:t>CONFIDENTIAL &amp; PROPRIETARY  |  공식 문의: 1286orbital21@gmail.com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The Problem: 우리는 왜 원생이 늘어날수록 더 불행해지는가?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01. 인건비의 늪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조교 의존도 심화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원생 통제를 위해 비싼 조교를 계속 고용하지만 잦은 퇴사와 관리 부실 반복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수익성 악화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원생이 늘어도 인건비가 정비례로 증가하여 실제 남는 순이익은 정체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02. 감정 노동의 한계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상담 전화 과부하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학부모의 끝없는 성적 불안과 심야 상담 요구로 원장의 에너지 완전 고갈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수납 독촉의 스트레스
</a:t>
            </a:r>
            <a:r>
              <a:rPr sz="1300">
                <a:solidFill>
                  <a:srgbClr val="A0AEC0"/>
                </a:solidFill>
                <a:latin typeface="Malgun Gothic"/>
              </a:rPr>
              <a:t>  수강료 결제일마다 반복되는 민망하고 어색한 수납 통화 스트레스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03. 스케일업 불가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물리적 시간의 한계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원장의 24시간은 한정되어 있어 50~100명 이상 원생 확장 불가능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학원에 갇힌 삶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원장이 하루라도 자리를 비우면 학원 전체 운영이 마비되는 구조적 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The Paradigm Shift: '더 가르치는 것'이 아니라 '완벽하게 통제하는 것'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A0AEC0"/>
                </a:solidFill>
                <a:latin typeface="Malgun Gothic"/>
              </a:defRPr>
            </a:pPr>
            <a:r>
              <a:t>기존의 학원 모델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핵심 가치
</a:t>
            </a:r>
            <a:r>
              <a:rPr sz="1300">
                <a:solidFill>
                  <a:srgbClr val="A0AEC0"/>
                </a:solidFill>
                <a:latin typeface="Malgun Gothic"/>
              </a:rPr>
              <a:t>  강사의 강의력과 노동 시간에 의존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보고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원장이 직접 수동 전화 상담 및 감정 소모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학생 관리
</a:t>
            </a:r>
            <a:r>
              <a:rPr sz="1300">
                <a:solidFill>
                  <a:srgbClr val="A0AEC0"/>
                </a:solidFill>
                <a:latin typeface="Malgun Gothic"/>
              </a:rPr>
              <a:t>  조교가 복도를 순찰하며 수동 감시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원장의 위치
</a:t>
            </a:r>
            <a:r>
              <a:rPr sz="1300">
                <a:solidFill>
                  <a:srgbClr val="A0AEC0"/>
                </a:solidFill>
                <a:latin typeface="Malgun Gothic"/>
              </a:rPr>
              <a:t>  모든 잡무를 도맡아 하는 '플레이어 (Player)'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PALIN OS 도입 학원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핵심 가치
</a:t>
            </a:r>
            <a:r>
              <a:rPr sz="1300">
                <a:solidFill>
                  <a:srgbClr val="A0AEC0"/>
                </a:solidFill>
                <a:latin typeface="Malgun Gothic"/>
              </a:rPr>
              <a:t>  시스템의 압도적인 24시간 통제력과 데이터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보고
</a:t>
            </a:r>
            <a:r>
              <a:rPr sz="1300">
                <a:solidFill>
                  <a:srgbClr val="A0AEC0"/>
                </a:solidFill>
                <a:latin typeface="Malgun Gothic"/>
              </a:rPr>
              <a:t>  AI가 매주 화요일 밤 10시 정밀 리포트 자동 발송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학생 관리
</a:t>
            </a:r>
            <a:r>
              <a:rPr sz="1300">
                <a:solidFill>
                  <a:srgbClr val="A0AEC0"/>
                </a:solidFill>
                <a:latin typeface="Malgun Gothic"/>
              </a:rPr>
              <a:t>  WiFi 감지 + 타이머 + 마이크로 랭킹전으로 자발적 몰입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원장의 위치
</a:t>
            </a:r>
            <a:r>
              <a:rPr sz="1300">
                <a:solidFill>
                  <a:srgbClr val="A0AEC0"/>
                </a:solidFill>
                <a:latin typeface="Malgun Gothic"/>
              </a:rPr>
              <a:t>  손가락 하나로 수백 명을 통제하는 '제국 설계자 (God Mode)'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The Solution: 원장님의 '뇌'를 복제하여 24시간 돌아가는 SaaS 제국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01. 완전 무인 행정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무설치 0.1초 출결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 네트워크 감지 즉시 자동 출결 및 학부모 안심 통보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1-Click 미납 관리
</a:t>
            </a:r>
            <a:r>
              <a:rPr sz="1300">
                <a:solidFill>
                  <a:srgbClr val="A0AEC0"/>
                </a:solidFill>
                <a:latin typeface="Malgun Gothic"/>
              </a:rPr>
              <a:t>  미납자 원클릭 필터링 및 카톡 정중 안내 자동화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조교 인건비 0원화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출결, 수납, OMR 채점, 과제 검사의 100% 무인화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02. AI 커스텀 뇌 이식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입시 철학 주입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원장님의 교재와 상담 대본을 벡터 DB로 100% 학습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24시간 1:1 상담 대행
</a:t>
            </a:r>
            <a:r>
              <a:rPr sz="1300">
                <a:solidFill>
                  <a:srgbClr val="A0AEC0"/>
                </a:solidFill>
                <a:latin typeface="Malgun Gothic"/>
              </a:rPr>
              <a:t>  새벽 2시에도 원장님의 어투로 팩트폭격 및 멘탈 케어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상담 리소스 90% 절감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원장님은 오직 VIP 심층 상담에만 집중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03. 심리적 락인 (Lock-in)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마이크로 랭킹전
</a:t>
            </a:r>
            <a:r>
              <a:rPr sz="1300">
                <a:solidFill>
                  <a:srgbClr val="A0AEC0"/>
                </a:solidFill>
                <a:latin typeface="Malgun Gothic"/>
              </a:rPr>
              <a:t>  내 동네/고교 친구들과의 실시간 자습 순위 경쟁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Beeminder 보증금
</a:t>
            </a:r>
            <a:r>
              <a:rPr sz="1300">
                <a:solidFill>
                  <a:srgbClr val="A0AEC0"/>
                </a:solidFill>
                <a:latin typeface="Malgun Gothic"/>
              </a:rPr>
              <a:t>  기상/취침 미션 실패 시 1,000원~5,000원 벌금 차감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퇴원율 0% 수렴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한 번 들어오면 수능 날까지 나갈 수 없는 강력한 몰입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Architecture: 철저한 3자 역할 기반 권한 격리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🧑‍🎓 수험생 모드 (몰입)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통제 UI만 독점 노출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자습 타이머, 동네/학교 랭킹, 주간 미션, D-Day 학생증만 사용 가능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관리자 영역 원천 차단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학부모의 감시 설정이나 관리자 기능에는 일절 접근 불가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게임 같은 몰입감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경쟁심과 성취감을 자극하여 공부를 게임처럼 플레이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👨‍👩‍👧 학부모 모드 (안심)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실시간 조회 (Read-only)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자녀의 자습시간, 출결 현황, 일일 미션 달성률을 실시간 모니터링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간섭 불가 &amp; 안심 극대화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자녀의 학습 흐름을 방해하지 않고 묵묵히 응원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원클릭 금융 지원
</a:t>
            </a:r>
            <a:r>
              <a:rPr sz="1300">
                <a:solidFill>
                  <a:srgbClr val="A0AEC0"/>
                </a:solidFill>
                <a:latin typeface="Malgun Gothic"/>
              </a:rPr>
              <a:t>  교재비, 모의고사 리포트, 학원비 결제 창구 일원화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🏫 학원장 모드 (관제실)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B2B 전용 중앙 ERP
</a:t>
            </a:r>
            <a:r>
              <a:rPr sz="1300">
                <a:solidFill>
                  <a:srgbClr val="A0AEC0"/>
                </a:solidFill>
                <a:latin typeface="Malgun Gothic"/>
              </a:rPr>
              <a:t>  전체 원생의 실시간 위치, 타이머, 이탈 상태 실시간 전지적 조망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원클릭 절대 통제권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 직통 레드카드 발부, 보증금 차감, 긴급 SMS 발송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독점 폐쇄망 운영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 전용 로고 및 가맹 코드 기반 독립 생태계 운영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Feature 01: 손가락 하나로 수백 명을 통제하는 '마스터 관제실'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무설치 0.1초 네트워크 출결 &amp; 미납 관리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하드웨어 설치 비용 0원
</a:t>
            </a:r>
            <a:r>
              <a:rPr sz="1300">
                <a:solidFill>
                  <a:srgbClr val="A0AEC0"/>
                </a:solidFill>
                <a:latin typeface="Malgun Gothic"/>
              </a:rPr>
              <a:t>  비싼 지문인식기나 비콘 없이 학원 WiFi/네트워크 대역 감지로 0.1초 자동 등원 체크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지각/결석 자동 격발
</a:t>
            </a:r>
            <a:r>
              <a:rPr sz="1300">
                <a:solidFill>
                  <a:srgbClr val="A0AEC0"/>
                </a:solidFill>
                <a:latin typeface="Malgun Gothic"/>
              </a:rPr>
              <a:t>  수업 시작 시간까지 미등원 시 학부모 안심 SMS 즉시 자동 발송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1-Click 미납금 관리
</a:t>
            </a:r>
            <a:r>
              <a:rPr sz="1300">
                <a:solidFill>
                  <a:srgbClr val="A0AEC0"/>
                </a:solidFill>
                <a:latin typeface="Malgun Gothic"/>
              </a:rPr>
              <a:t>  수강료/교재비 미납자 목록 원클릭 색출 및 정중한 카카오톡 수납 안내 자동 발송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원장 직통 원클릭 레드카드 발송기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자습 태도 불량 즉시 제재
</a:t>
            </a:r>
            <a:r>
              <a:rPr sz="1300">
                <a:solidFill>
                  <a:srgbClr val="A0AEC0"/>
                </a:solidFill>
                <a:latin typeface="Malgun Gothic"/>
              </a:rPr>
              <a:t>  졸음, 잡담, 스마트폰 몰래 사용 적발 시 관제실 버튼 하나로 즉각 경고 발부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성실 보증금 벌금 차감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 에스크로 보증금에서 1,000원~5,000원 즉시 삭감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통보 동시 실행
</a:t>
            </a:r>
            <a:r>
              <a:rPr sz="1300">
                <a:solidFill>
                  <a:srgbClr val="A0AEC0"/>
                </a:solidFill>
                <a:latin typeface="Malgun Gothic"/>
              </a:rPr>
              <a:t>  부모님께 징계 사유와 타임스탬프가 자동 문자로 전송되어 학원 내 기강 100% 확립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Feature 02: 내가 자는 동안에도 내 분신이 1:1 상담을 진행하는 AI 뇌 이식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원장님 입시 철학 &amp; 수험생활백서 RAG 주입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학원 자체 데이터 무제한 학습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원장님의 강의 교재, 커리큘럼, 입시 노하우, 상담 대본을 시스템에 텍스트/PDF로 업로드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전용 AI 뇌 동적 병합
</a:t>
            </a:r>
            <a:r>
              <a:rPr sz="1300">
                <a:solidFill>
                  <a:srgbClr val="A0AEC0"/>
                </a:solidFill>
                <a:latin typeface="Malgun Gothic"/>
              </a:rPr>
              <a:t>  Gemini AI가 원장님의 지식을 학습하여 '우리 학원만의 방침과 커리큘럼'으로만 완벽 응답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지식의 영구 자산화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강사가 퇴사해도 학원의 핵심 입시 노하우와 상담 퀄리티는 시스템에 영구 보존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24시간 1:1 원장 페르소나 팩트폭격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심야 1:1 밀착 멘토링
</a:t>
            </a:r>
            <a:r>
              <a:rPr sz="1300">
                <a:solidFill>
                  <a:srgbClr val="A0AEC0"/>
                </a:solidFill>
                <a:latin typeface="Malgun Gothic"/>
              </a:rPr>
              <a:t>  새벽 2시에 학생이 슬럼프 고민을 토로해도 원장님의 어투로 즉각 처방전 제시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냉혹한 팩트폭격
</a:t>
            </a:r>
            <a:r>
              <a:rPr sz="1300">
                <a:solidFill>
                  <a:srgbClr val="A0AEC0"/>
                </a:solidFill>
                <a:latin typeface="Malgun Gothic"/>
              </a:rPr>
              <a:t>  달콤한 위로 대신 목표 대학 갭 분석을 바탕으로 한 현실적 행동 강령 제시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무한 스케일업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원생이 500명으로 늘어나도 상담 퀄리티의 타협 없이 24시간 완벽 커버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Feature 03: 원장님의 영업 철학에 맞춘 100% 자율 학부모 AI 페르소나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모드 A: 신뢰형 멘토 (Anti-Marketing)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결제를 만류하는 역설적 진정성
</a:t>
            </a:r>
            <a:r>
              <a:rPr sz="1300">
                <a:solidFill>
                  <a:srgbClr val="A0AEC0"/>
                </a:solidFill>
                <a:latin typeface="Malgun Gothic"/>
              </a:rPr>
              <a:t>  불안해하는 학부모가 추가 특강/결제를 문의할 때, '지금은 돈을 쓸 때가 아니라 기본 복습 밀도를 높일 때입니다' 단호히 만류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학부모의 절대적 신뢰 획득
</a:t>
            </a:r>
            <a:r>
              <a:rPr sz="1300">
                <a:solidFill>
                  <a:srgbClr val="A0AEC0"/>
                </a:solidFill>
                <a:latin typeface="Malgun Gothic"/>
              </a:rPr>
              <a:t>  상업적이지 않고 아이를 진심으로 위한다는 확신을 주어 재등록률 100% 달성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원장의 품격 상승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학원과 원장님의 브랜드를 지역 최고 수준의 교육 전문가로 각인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모드 B: 전략적 제안형 (Active-Sales)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취약점 진단 기반 자연스러운 제안
</a:t>
            </a:r>
            <a:r>
              <a:rPr sz="1300">
                <a:solidFill>
                  <a:srgbClr val="A0AEC0"/>
                </a:solidFill>
                <a:latin typeface="Malgun Gothic"/>
              </a:rPr>
              <a:t>  모의고사 성적 하락 시 해당 단원 클리닉 및 방학 특강을 논리적으로 추천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학원 매출 극대화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학부모의 니즈가 가장 높은 시점에 최적의 맞춤형 커리큘럼 안내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관제실에서 1초 원클릭 스위칭
</a:t>
            </a:r>
            <a:r>
              <a:rPr sz="1300">
                <a:solidFill>
                  <a:srgbClr val="A0AEC0"/>
                </a:solidFill>
                <a:latin typeface="Malgun Gothic"/>
              </a:rPr>
              <a:t>  본사의 강요 없이 원장님의 사업 방식에 따라 AI 성향을 100% 자유롭게 세팅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Feature 04: 강압적 감시가 아닌, 자발적 중독을 설계하는 게이미피케이션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01. 동네/학교 랭킹전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국지적 자존심 경쟁
</a:t>
            </a:r>
            <a:r>
              <a:rPr sz="1300">
                <a:solidFill>
                  <a:srgbClr val="A0AEC0"/>
                </a:solidFill>
                <a:latin typeface="Malgun Gothic"/>
              </a:rPr>
              <a:t>  '분당구 1위', '낙생고 2위' 등 실시간 동네/학교 순위 노출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실시간 띠배너 공지
</a:t>
            </a:r>
            <a:r>
              <a:rPr sz="1300">
                <a:solidFill>
                  <a:srgbClr val="A0AEC0"/>
                </a:solidFill>
                <a:latin typeface="Malgun Gothic"/>
              </a:rPr>
              <a:t>  1위 탈환 시 전교생 화면 상단에 골드 띠배너 즉시 브로드캐스트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자발적 자습 폭증
</a:t>
            </a:r>
            <a:r>
              <a:rPr sz="1300">
                <a:solidFill>
                  <a:srgbClr val="A0AEC0"/>
                </a:solidFill>
                <a:latin typeface="Malgun Gothic"/>
              </a:rPr>
              <a:t>  친구를 이기기 위해 밤늦게까지 타이머를 켜두는 선의의 경쟁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02. 주간 초기화 룰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매주 일요일 자정 리셋
</a:t>
            </a:r>
            <a:r>
              <a:rPr sz="1300">
                <a:solidFill>
                  <a:srgbClr val="A0AEC0"/>
                </a:solidFill>
                <a:latin typeface="Malgun Gothic"/>
              </a:rPr>
              <a:t>  모든 랭킹 점수가 일요일 자정에 0으로 초기화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새로운 희망 부여
</a:t>
            </a:r>
            <a:r>
              <a:rPr sz="1300">
                <a:solidFill>
                  <a:srgbClr val="A0AEC0"/>
                </a:solidFill>
                <a:latin typeface="Malgun Gothic"/>
              </a:rPr>
              <a:t>  이번 주에 뒤처진 학생도 다음 주 월요일 0시부터 다시 1등 도전 가능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이탈 방지
</a:t>
            </a:r>
            <a:r>
              <a:rPr sz="1300">
                <a:solidFill>
                  <a:srgbClr val="A0AEC0"/>
                </a:solidFill>
                <a:latin typeface="Malgun Gothic"/>
              </a:rPr>
              <a:t>  포기하지 않고 매주 월요일 아침 앱에 재접속하도록 유도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03. 1% VIP 라운지 강등제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가차 없는 권한 박탈
</a:t>
            </a:r>
            <a:r>
              <a:rPr sz="1300">
                <a:solidFill>
                  <a:srgbClr val="A0AEC0"/>
                </a:solidFill>
                <a:latin typeface="Malgun Gothic"/>
              </a:rPr>
              <a:t>  주간 자습 상위 1% 미달 시 즉시 VIP 라운지에서 강제 퇴장(Kick-out)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상실의 공포 (FOMO)
</a:t>
            </a:r>
            <a:r>
              <a:rPr sz="1300">
                <a:solidFill>
                  <a:srgbClr val="A0AEC0"/>
                </a:solidFill>
                <a:latin typeface="Malgun Gothic"/>
              </a:rPr>
              <a:t>  VIP 자격을 유지하기 위해 자습량을 극한으로 유지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의치한약수 멘토링
</a:t>
            </a:r>
            <a:r>
              <a:rPr sz="1300">
                <a:solidFill>
                  <a:srgbClr val="A0AEC0"/>
                </a:solidFill>
                <a:latin typeface="Malgun Gothic"/>
              </a:rPr>
              <a:t>  상위 1% 학생에게만 주어지는 명예와 특권 부여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Feature 05: 핑계를 원천 봉쇄하는 기계적인 엄격함의 오토파일럿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01. 주간 OMR 자정 마감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타협 없는 자동 마감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일요일 23:59까지 OMR 미제출 시 예외 없이 자동 차단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보증금 벌금 즉시 차감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과제 미제출에 따른 성실 보증금 벌금 에스크로 자동 삭감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자동 통보
</a:t>
            </a:r>
            <a:r>
              <a:rPr sz="1300">
                <a:solidFill>
                  <a:srgbClr val="A0AEC0"/>
                </a:solidFill>
                <a:latin typeface="Malgun Gothic"/>
              </a:rPr>
              <a:t>  과제 미제출 사실이 부모님께 즉시 알림톡으로 발송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02. VOD 168시간 락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7일 후 시청 원천 차단
</a:t>
            </a:r>
            <a:r>
              <a:rPr sz="1300">
                <a:solidFill>
                  <a:srgbClr val="A0AEC0"/>
                </a:solidFill>
                <a:latin typeface="Malgun Gothic"/>
              </a:rPr>
              <a:t>  강의 권한 부여 후 168시간(7일) 경과 시 영상 자동 락(Lock)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배속 롤백 안티치트
</a:t>
            </a:r>
            <a:r>
              <a:rPr sz="1300">
                <a:solidFill>
                  <a:srgbClr val="A0AEC0"/>
                </a:solidFill>
                <a:latin typeface="Malgun Gothic"/>
              </a:rPr>
              <a:t>  2배속 이상 날림 수강 시 시청 시간 미인정 및 경고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초단위 완강률 추적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학생이 진짜로 집중해서 들었는지 초단위 타임라인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03. 화요일 22:00 AI 리포트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Gemini AI 종합 진단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한 주간의 자습시간, 출결, 미션 성공률을 분석해 300자 카톡 대본 생성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전교생 일괄 발송
</a:t>
            </a:r>
            <a:r>
              <a:rPr sz="1300">
                <a:solidFill>
                  <a:srgbClr val="A0AEC0"/>
                </a:solidFill>
                <a:latin typeface="Malgun Gothic"/>
              </a:rPr>
              <a:t>  화요일 밤 학부모 스마트폰으로 고품격 리포트 자동 발송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수납 링크 연동
</a:t>
            </a:r>
            <a:r>
              <a:rPr sz="1300">
                <a:solidFill>
                  <a:srgbClr val="A0AEC0"/>
                </a:solidFill>
                <a:latin typeface="Malgun Gothic"/>
              </a:rPr>
              <a:t>  미납자의 경우 리포트 하단에 결제 안내 정중히 포함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Business Model 01: 제자를 잘 키울수록 학원의 영구적 부가 수익이 되는 생태계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🎓 학원 출신 선배 ➔ 후배 1:1 클리닉 (8:1:1)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원장이 키운 제자가 학원의 자산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 출신 의대/SKY 합격생을 학원 전용 튜터로 등록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후배 재원생의 압도적 신뢰
</a:t>
            </a:r>
            <a:r>
              <a:rPr sz="1300">
                <a:solidFill>
                  <a:srgbClr val="A0AEC0"/>
                </a:solidFill>
                <a:latin typeface="Malgun Gothic"/>
              </a:rPr>
              <a:t>  우리 학원에서 공부해 명문대 간 검증된 선배에게 1:1 킬러문항 질의응답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수익 분배 구조
</a:t>
            </a:r>
            <a:r>
              <a:rPr sz="1300">
                <a:solidFill>
                  <a:srgbClr val="A0AEC0"/>
                </a:solidFill>
                <a:latin typeface="Malgun Gothic"/>
              </a:rPr>
              <a:t>  선배 튜터 80% : 학원장 10% (브랜드 보증료) : 본사 10% (플랫폼 운영)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💰 구독료를 상쇄하고 남는 확실한 Profit Center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월 순수익 시뮬레이션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재원생 100명 중 30명이 주 1회 선배 클리닉(회당 5만 원) 이용 시
➔ 월 결제 총액: 600만 원
➔ 학원장 수수료(10%): 월 60만 원 추가 순수익 발생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구독료 전액 회수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 월 구독료(59.9만 원)를 내면서도, 선배 클리닉 수수료로 구독료 전액을 회수하고 순이익 창출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Business Model 02: 학원비 외에 '불안감'과 '서비스'를 현금화하는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📊 AI 입시 심층 리포트 (16,900원~34,900원)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불안감의 현금화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모의고사 직후 학부모의 불안감이 극에 달했을 때, 버튼 클릭 한 번으로 발급되는 정밀 AI 진단서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11,688개 대학 정시 컷 연동
</a:t>
            </a:r>
            <a:r>
              <a:rPr sz="1300">
                <a:solidFill>
                  <a:srgbClr val="A0AEC0"/>
                </a:solidFill>
                <a:latin typeface="Malgun Gothic"/>
              </a:rPr>
              <a:t>  목표 대학 합격 가능성 및 역전 전략 로드맵 0.1초 제공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자발적 결제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학원에 추가 비용을 내지 않고도 학부모 스스로 결제하는 고부가가치 아이템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💬 AI 대화 토큰 충전 &amp; 캐시 지갑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추가 질문 토큰 과금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학생이 기본 무료 챗봇 횟수 소진 시, 50회 충전(4,900원)을 통한 부가 수익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PALIN 캐시 지갑 연동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학생/학부모 충전 포인트를 통한 학원 내 유료 콘텐츠 결제 활성화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완벽한 Profit Center
</a:t>
            </a:r>
            <a:r>
              <a:rPr sz="1300">
                <a:solidFill>
                  <a:srgbClr val="A0AEC0"/>
                </a:solidFill>
                <a:latin typeface="Malgun Gothic"/>
              </a:rPr>
              <a:t>  소프트웨어 사용료를 내는 구조에서, 소프트웨어가 매달 돈을 벌어다 주는 구조로 전환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Case Study: 이미 증명된 일원학원 Beta의 압도적인 실측 운영 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46888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-100%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조교 인건비 절감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월 150만~200만 원 나가던 조교 인건비 전액 0원화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1인 통제
</a:t>
            </a:r>
            <a:r>
              <a:rPr sz="1300">
                <a:solidFill>
                  <a:srgbClr val="A0AEC0"/>
                </a:solidFill>
                <a:latin typeface="Malgun Gothic"/>
              </a:rPr>
              <a:t>  100명 이상의 재원생을 원장 1인이 완벽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+34.2%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평균 순공 자습시간
</a:t>
            </a:r>
            <a:r>
              <a:rPr sz="1300">
                <a:solidFill>
                  <a:srgbClr val="A0AEC0"/>
                </a:solidFill>
                <a:latin typeface="Malgun Gothic"/>
              </a:rPr>
              <a:t>  마이크로 랭킹전과 보증금 에스크로 도입 후 자습량 급증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주말 자습실 만석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자발적 면학 분위기 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46888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-90%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전화 클레임
</a:t>
            </a:r>
            <a:r>
              <a:rPr sz="1300">
                <a:solidFill>
                  <a:srgbClr val="A0AEC0"/>
                </a:solidFill>
                <a:latin typeface="Malgun Gothic"/>
              </a:rPr>
              <a:t>  매일 밤 22:00 알림톡으로 불안감 100% 해소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상담 스트레스 소멸
</a:t>
            </a:r>
            <a:r>
              <a:rPr sz="1300">
                <a:solidFill>
                  <a:srgbClr val="A0AEC0"/>
                </a:solidFill>
                <a:latin typeface="Malgun Gothic"/>
              </a:rPr>
              <a:t>  수납/성적 문의 전화 90% 이상 급감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645920"/>
            <a:ext cx="246888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0%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재원생 중도 퇴원율
</a:t>
            </a:r>
            <a:r>
              <a:rPr sz="1300">
                <a:solidFill>
                  <a:srgbClr val="A0AEC0"/>
                </a:solidFill>
                <a:latin typeface="Malgun Gothic"/>
              </a:rPr>
              <a:t>  D-Day 합격예측과 선배 클리닉 락인 효과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재등록률 99.4%
</a:t>
            </a:r>
            <a:r>
              <a:rPr sz="1300">
                <a:solidFill>
                  <a:srgbClr val="A0AEC0"/>
                </a:solidFill>
                <a:latin typeface="Malgun Gothic"/>
              </a:rPr>
              <a:t>  경쟁 학원으로의 이탈 원천 차단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The Vision: 원장님의 공간(Space)을 제국(Empire)으로 확장하십시오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01. 공간과 시간의 한계를 돌파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강의실 평수의 한계 극복
</a:t>
            </a:r>
            <a:r>
              <a:rPr sz="1300">
                <a:solidFill>
                  <a:srgbClr val="A0AEC0"/>
                </a:solidFill>
                <a:latin typeface="Malgun Gothic"/>
              </a:rPr>
              <a:t>  오프라인 좌석 수에 얽매이지 않고 온라인 관리형 원생 무한 확장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노동 시간의 탈피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원생 수가 50명에서 500명으로 늘어나도 원장님의 행정 시간은 '0분' 증가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분점 및 프랜차이즈화
</a:t>
            </a:r>
            <a:r>
              <a:rPr sz="1300">
                <a:solidFill>
                  <a:srgbClr val="A0AEC0"/>
                </a:solidFill>
                <a:latin typeface="Malgun Gothic"/>
              </a:rPr>
              <a:t>  동일한 시스템과 AI 뇌를 그대로 복제하여 2호점, 3호점 즉시 개설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02. 제국 설계자로의 완벽한 전환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잡무에서 완전 해방
</a:t>
            </a:r>
            <a:r>
              <a:rPr sz="1300">
                <a:solidFill>
                  <a:srgbClr val="A0AEC0"/>
                </a:solidFill>
                <a:latin typeface="Malgun Gothic"/>
              </a:rPr>
              <a:t>  출결 체크, 성적표 입력, 수납 독촉 등 3D 행정 업무 100% 소멸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고부가가치 영역 집중
</a:t>
            </a:r>
            <a:r>
              <a:rPr sz="1300">
                <a:solidFill>
                  <a:srgbClr val="A0AEC0"/>
                </a:solidFill>
                <a:latin typeface="Malgun Gothic"/>
              </a:rPr>
              <a:t>  오직 VIP 심층 입시 상담과 학원 사업 확장에만 원장의 에너지 투입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지역 1위 절대 권력
</a:t>
            </a:r>
            <a:r>
              <a:rPr sz="1300">
                <a:solidFill>
                  <a:srgbClr val="A0AEC0"/>
                </a:solidFill>
                <a:latin typeface="Malgun Gothic"/>
              </a:rPr>
              <a:t>  경쟁 학원이 따라올 수 없는 최첨단 AI 시스템으로 지역 패권 장악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Pricing: 타협 없는 최고급 정가 정책 (구독료 할인 없음)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A0AEC0"/>
                </a:solidFill>
                <a:latin typeface="Malgun Gothic"/>
              </a:defRPr>
            </a:pPr>
            <a:r>
              <a:t>Tier 1: 베이직 (단과)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월 구독료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월 299,000원 (VAT 별도)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수용 정원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재원생 최대 50명 한정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초기 세팅비
</a:t>
            </a:r>
            <a:r>
              <a:rPr sz="1300">
                <a:solidFill>
                  <a:srgbClr val="A0AEC0"/>
                </a:solidFill>
                <a:latin typeface="Malgun Gothic"/>
              </a:rPr>
              <a:t>  1,000,000원 (최초 1회)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기능
</a:t>
            </a:r>
            <a:r>
              <a:rPr sz="1300">
                <a:solidFill>
                  <a:srgbClr val="A0AEC0"/>
                </a:solidFill>
                <a:latin typeface="Malgun Gothic"/>
              </a:rPr>
              <a:t>  실시간 관제실 + 기본 출결/수납/OMR ERP + 안심 알림톡 기본 충전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Tier 2: 프로 (성장형)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월 구독료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월 599,000원 (VAT 별도)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수용 정원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재원생 최대 100명 한정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초기 세팅비
</a:t>
            </a:r>
            <a:r>
              <a:rPr sz="1300">
                <a:solidFill>
                  <a:srgbClr val="A0AEC0"/>
                </a:solidFill>
                <a:latin typeface="Malgun Gothic"/>
              </a:rPr>
              <a:t>  1,000,000원 (최초 1회)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기능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 전용 AI 뇌 이식(RAG) + 화요일 AI 주간 리포트 + 레드카드 에스크로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Tier 3: 엔터프라이즈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월 구독료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월 999,000원 (VAT 별도)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수용 정원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재원생 무제한 (Unlimited)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초기 세팅비
</a:t>
            </a:r>
            <a:r>
              <a:rPr sz="1300">
                <a:solidFill>
                  <a:srgbClr val="A0AEC0"/>
                </a:solidFill>
                <a:latin typeface="Malgun Gothic"/>
              </a:rPr>
              <a:t>  1,000,000원 (화이트라벨링 포함)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기능
</a:t>
            </a:r>
            <a:r>
              <a:rPr sz="1300">
                <a:solidFill>
                  <a:srgbClr val="A0AEC0"/>
                </a:solidFill>
                <a:latin typeface="Malgun Gothic"/>
              </a:rPr>
              <a:t>  100% 화이트라벨링 + 전용 AI 봇 + 선배 클리닉 수수료 쉐어 (Profit Center)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Exclusivity: 반경 2km 권역 내 선착순 1개 학원 독점 가맹 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상권 독점권 (Territory Protection)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동일 상권 내 중복 가맹 원천 차단
</a:t>
            </a:r>
            <a:r>
              <a:rPr sz="1300">
                <a:solidFill>
                  <a:srgbClr val="A0AEC0"/>
                </a:solidFill>
                <a:latin typeface="Malgun Gothic"/>
              </a:rPr>
              <a:t>  반경 2km 이내 동일 교습 과목 학원의 가맹을 일절 불허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지역 1위 학원의 독점 무기
</a:t>
            </a:r>
            <a:r>
              <a:rPr sz="1300">
                <a:solidFill>
                  <a:srgbClr val="A0AEC0"/>
                </a:solidFill>
                <a:latin typeface="Malgun Gothic"/>
              </a:rPr>
              <a:t>  주변 경쟁 학원이 도입하고 싶어도 가맹할 수 없는 배타적 경쟁력 부여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선착순 계약 원칙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해당 지역의 첫 번째 원장님께 독점 권한 우선 부여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놓치면 경쟁 학원의 무기가 됩니다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인근 학원 도입 시 리스크
</a:t>
            </a:r>
            <a:r>
              <a:rPr sz="1300">
                <a:solidFill>
                  <a:srgbClr val="A0AEC0"/>
                </a:solidFill>
                <a:latin typeface="Malgun Gothic"/>
              </a:rPr>
              <a:t>  옆 학원이 PALIN OS를 먼저 도입할 경우, 학부모와 학생의 이탈 방어 불가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즉각적인 도입 결정의 중요성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원장님의 학원이 지역 내 유일무이한 AI 관제 학원으로 우뚝 설 수 있는 유일한 기회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Live Demo: 백문이 불여일견, 스마트폰으로 지금 직접 체험하십시오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3-Way 실시간 롤 시뮬레이터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QR 코드 원클릭 접속
</a:t>
            </a:r>
            <a:r>
              <a:rPr sz="1300">
                <a:solidFill>
                  <a:srgbClr val="A0AEC0"/>
                </a:solidFill>
                <a:latin typeface="Malgun Gothic"/>
              </a:rPr>
              <a:t>  별도 앱 설치 없이 스마트폰 카메라로 QR 코드를 스캔하여 즉시 체험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모드 (God Mode)
</a:t>
            </a:r>
            <a:r>
              <a:rPr sz="1300">
                <a:solidFill>
                  <a:srgbClr val="A0AEC0"/>
                </a:solidFill>
                <a:latin typeface="Malgun Gothic"/>
              </a:rPr>
              <a:t>  관제실에서 실시간 출결 현황을 보고 원클릭 레드카드 발부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학생 모드 (수감자)
</a:t>
            </a:r>
            <a:r>
              <a:rPr sz="1300">
                <a:solidFill>
                  <a:srgbClr val="A0AEC0"/>
                </a:solidFill>
                <a:latin typeface="Malgun Gothic"/>
              </a:rPr>
              <a:t>  레드카드가 발부되는 순간 학생 화면에 경고창이 뜨고 타이머가 정지되는 통제력 체감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학부모 모드 (스폰서)
</a:t>
            </a:r>
            <a:r>
              <a:rPr sz="1300">
                <a:solidFill>
                  <a:srgbClr val="A0AEC0"/>
                </a:solidFill>
                <a:latin typeface="Malgun Gothic"/>
              </a:rPr>
              <a:t>  자녀의 자습 데이터와 AI 주간 리포트가 어떻게 보이는지 실시간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체험 포인트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속도와 반응성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웹 기반임에도 네이티브 앱보다 빠른 0.001초 인터랙션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완벽한 권한 분리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학생이 학부모나 원장의 화면을 절대로 훔쳐볼 수 없는 완벽한 보안 격리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FAQ: 원장님들께서 가장 자주 묻는 질문 3가지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Q1. 기존 시스템과 호환되나요?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1초 엑셀 일괄 업로드
</a:t>
            </a:r>
            <a:r>
              <a:rPr sz="1300">
                <a:solidFill>
                  <a:srgbClr val="A0AEC0"/>
                </a:solidFill>
                <a:latin typeface="Malgun Gothic"/>
              </a:rPr>
              <a:t>  기존에 사용하시던 엑셀 명단을 끌어다 놓으면 1초 만에 전산 반영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병행 사용 가능
</a:t>
            </a:r>
            <a:r>
              <a:rPr sz="1300">
                <a:solidFill>
                  <a:srgbClr val="A0AEC0"/>
                </a:solidFill>
                <a:latin typeface="Malgun Gothic"/>
              </a:rPr>
              <a:t>  기존 관리 프로그램과 충돌 없이 독립적인 관제 인프라로 즉시 가동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Q2. 세팅에 얼마나 걸리나요?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단 3일 완성
</a:t>
            </a:r>
            <a:r>
              <a:rPr sz="1300">
                <a:solidFill>
                  <a:srgbClr val="A0AEC0"/>
                </a:solidFill>
                <a:latin typeface="Malgun Gothic"/>
              </a:rPr>
              <a:t>  신청 즉시 학원 전용 코드 발급 및 로고/브랜딩 화이트라벨링 적용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AI 뇌 이식 즉시 완료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 자료 업로드 후 24시간 내 RAG 임베딩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Q3. 강사들이 반발하지 않나요?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강사 만족도 100%
</a:t>
            </a:r>
            <a:r>
              <a:rPr sz="1300">
                <a:solidFill>
                  <a:srgbClr val="A0AEC0"/>
                </a:solidFill>
                <a:latin typeface="Malgun Gothic"/>
              </a:rPr>
              <a:t>  출결 체크, 과제 검사, 성적표 입력 등 허드렛일이 90% 사라짐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강의에만 전념
</a:t>
            </a:r>
            <a:r>
              <a:rPr sz="1300">
                <a:solidFill>
                  <a:srgbClr val="A0AEC0"/>
                </a:solidFill>
                <a:latin typeface="Malgun Gothic"/>
              </a:rPr>
              <a:t>  강사들이 행정 스트레스 없이 수업 연구에만 집중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Malgun Gothic"/>
              </a:defRPr>
            </a:pPr>
            <a:r>
              <a:t>PALIN OS EXECUTIVE B2B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Roadmap: 단 3일 만에 완성되는 학원 전산 혁신 온보딩 프로세스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Day 1: 가맹 계약 &amp; 세팅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가맹 신청 접수
</a:t>
            </a:r>
            <a:r>
              <a:rPr sz="1300">
                <a:solidFill>
                  <a:srgbClr val="A0AEC0"/>
                </a:solidFill>
                <a:latin typeface="Malgun Gothic"/>
              </a:rPr>
              <a:t>  이메일 또는 직통 전화로 학원 규모 및 요구사항 확정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관리자 계정 개설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 전용 보안 PIN 및 마스터 관제실 즉시 생성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화이트라벨링 반영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학원 로고, 테마 컬러, 가맹 고유코드 세팅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26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Day 2: AI 뇌 이식 &amp; 테스트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원장 자료 RAG 업로드
</a:t>
            </a:r>
            <a:r>
              <a:rPr sz="1300">
                <a:solidFill>
                  <a:srgbClr val="A0AEC0"/>
                </a:solidFill>
                <a:latin typeface="Malgun Gothic"/>
              </a:rPr>
              <a:t>  원장님의 입시 철학 및 상담 대본 벡터 DB 주입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가상 테스트 시뮬레이션
</a:t>
            </a:r>
            <a:r>
              <a:rPr sz="1300">
                <a:solidFill>
                  <a:srgbClr val="A0AEC0"/>
                </a:solidFill>
                <a:latin typeface="Malgun Gothic"/>
              </a:rPr>
              <a:t>  가상 계정으로 랭킹전 및 레드카드/알림톡 사전 점검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전교생 엑셀 일괄 등록
</a:t>
            </a:r>
            <a:r>
              <a:rPr sz="1300">
                <a:solidFill>
                  <a:srgbClr val="A0AEC0"/>
                </a:solidFill>
                <a:latin typeface="Malgun Gothic"/>
              </a:rPr>
              <a:t>  기존 원생 명단 1초 만에 전산 업로드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256032"/>
          <a:lstStyle/>
          <a:p>
            <a:pPr algn="ctr">
              <a:spcAft>
                <a:spcPts val="1400"/>
              </a:spcAft>
              <a:defRPr sz="1800" b="1">
                <a:solidFill>
                  <a:srgbClr val="D4AF37"/>
                </a:solidFill>
                <a:latin typeface="Malgun Gothic"/>
              </a:defRPr>
            </a:pPr>
            <a:r>
              <a:t>Day 3: 정식 가동 &amp; 오토파일럿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초대 카톡 일괄 발송
</a:t>
            </a:r>
            <a:r>
              <a:rPr sz="1300">
                <a:solidFill>
                  <a:srgbClr val="A0AEC0"/>
                </a:solidFill>
                <a:latin typeface="Malgun Gothic"/>
              </a:rPr>
              <a:t>  학생과 학부모에게 전용 앱 설치 링크 및 코드 안내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기상/취침 미션 시작
</a:t>
            </a:r>
            <a:r>
              <a:rPr sz="1300">
                <a:solidFill>
                  <a:srgbClr val="A0AEC0"/>
                </a:solidFill>
                <a:latin typeface="Malgun Gothic"/>
              </a:rPr>
              <a:t>  06:30 기상 및 자습실 출결 에스크로 본격 가동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FFFFF"/>
                </a:solidFill>
                <a:latin typeface="Malgun Gothic"/>
              </a:rPr>
              <a:t>• 화요일 AI 주간 리포트
</a:t>
            </a:r>
            <a:r>
              <a:rPr sz="1300">
                <a:solidFill>
                  <a:srgbClr val="A0AEC0"/>
                </a:solidFill>
                <a:latin typeface="Malgun Gothic"/>
              </a:rPr>
              <a:t>  매주 화요일 밤 학부모 감동 리포팅 자동 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4AF37"/>
                </a:solidFill>
                <a:latin typeface="Malgun Gothic"/>
              </a:defRPr>
            </a:pPr>
            <a:r>
              <a:t>지금 귀 학원의 'AI 관제 제국'을 구축하십시오.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학생의 퇴원율을 0%로 막고, 학원의 가치를 압도적으로 끌어올리는 차세대 교육 OS</a:t>
            </a:r>
          </a:p>
          <a:p>
            <a:pPr>
              <a:spcBef>
                <a:spcPts val="1600"/>
              </a:spcBef>
              <a:defRPr sz="1300">
                <a:solidFill>
                  <a:srgbClr val="A0AEC0"/>
                </a:solidFill>
                <a:latin typeface="Malgun Gothic"/>
              </a:defRPr>
            </a:pPr>
            <a:r>
              <a:t>PALIN OS는 단순한 학습 앱이 아닙니다. 원장님의 교육 철학과 입시 노하우를 완벽히 복제하여</a:t>
            </a:r>
            <a:br/>
            <a:r>
              <a:t>24시간 지치지 않고 일하는 '학원 전용 AI 수석 부원장'을 이식해 드리는 독점 솔루션입니다.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9966960" cy="2377440"/>
          </a:xfrm>
          <a:prstGeom prst="roundRect">
            <a:avLst/>
          </a:prstGeom>
          <a:solidFill>
            <a:srgbClr val="11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700" b="1">
                <a:solidFill>
                  <a:srgbClr val="D4AF37"/>
                </a:solidFill>
                <a:latin typeface="Malgun Gothic"/>
              </a:defRPr>
            </a:pPr>
            <a:r>
              <a:t>🏢 PALIN OS 가맹 및 B2B 시스템 도입 1:1 직통 문의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• 공식 제휴 이메일: 1286orbital21@gmail.com</a:t>
            </a:r>
          </a:p>
          <a:p>
            <a:pPr>
              <a:spcBef>
                <a:spcPts val="600"/>
              </a:spcBef>
              <a:defRPr sz="1200">
                <a:solidFill>
                  <a:srgbClr val="A0AEC0"/>
                </a:solidFill>
                <a:latin typeface="Malgun Gothic"/>
              </a:defRPr>
            </a:pPr>
            <a:r>
              <a:t>• 문의 양식: [학원명 / 지역 / 원장님 성함 및 연락처 / 재원생 규모]를 기재하여 메일을 보내주시면 24시간 내 1:1 맞춤 제안서를 전달해 드립니다.</a:t>
            </a:r>
          </a:p>
          <a:p>
            <a:pPr>
              <a:spcBef>
                <a:spcPts val="800"/>
              </a:spcBef>
              <a:defRPr sz="1200" b="1">
                <a:solidFill>
                  <a:srgbClr val="D4AF37"/>
                </a:solidFill>
                <a:latin typeface="Malgun Gothic"/>
              </a:defRPr>
            </a:pPr>
            <a:r>
              <a:t>• 지역별 독점권 보장: 동일 상권(반경 2km 내) 선착순 1개 학원 독점 가맹 원칙 준수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