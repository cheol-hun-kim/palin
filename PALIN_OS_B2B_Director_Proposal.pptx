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59E0B"/>
                </a:solidFill>
                <a:latin typeface="Malgun Gothic"/>
              </a:defRPr>
            </a:pPr>
            <a:r>
              <a:t>PALIN OS</a:t>
            </a:r>
          </a:p>
          <a:p>
            <a:pPr>
              <a:spcBef>
                <a:spcPts val="1000"/>
              </a:spcBef>
              <a:defRPr sz="2300" b="1">
                <a:solidFill>
                  <a:srgbClr val="F8FAFC"/>
                </a:solidFill>
                <a:latin typeface="Malgun Gothic"/>
              </a:defRPr>
            </a:pPr>
            <a:r>
              <a:t>학원 가맹 및 엔터프라이즈 중앙 관제 인프라 도입 제안서</a:t>
            </a:r>
          </a:p>
          <a:p>
            <a:pPr>
              <a:spcBef>
                <a:spcPts val="1200"/>
              </a:spcBef>
              <a:defRPr sz="1350">
                <a:solidFill>
                  <a:srgbClr val="94A3B8"/>
                </a:solidFill>
                <a:latin typeface="Malgun Gothic"/>
              </a:defRPr>
            </a:pPr>
            <a:r>
              <a:t>수험생 · 학부모 · 학원 3자 연동 지능형 입시 관제 &amp; 원장 전용 AI 뇌 이식 솔루션</a:t>
            </a:r>
          </a:p>
          <a:p>
            <a:pPr>
              <a:spcBef>
                <a:spcPts val="3000"/>
              </a:spcBef>
              <a:defRPr sz="1100">
                <a:solidFill>
                  <a:srgbClr val="10B981"/>
                </a:solidFill>
                <a:latin typeface="Malgun Gothic"/>
              </a:defRPr>
            </a:pPr>
            <a:r>
              <a:t>🔒 B2B CONFIDENTIAL &amp; PROPRIETARY | 공식 도입 문의: 1286orbital21@gmail.com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01. 도입 배경: 오프라인 학원의 3대 구조적 한계와 PALIN OS의 해법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43F5E"/>
                </a:solidFill>
                <a:latin typeface="Malgun Gothic"/>
              </a:defRPr>
            </a:pPr>
            <a:r>
              <a:t>⚠️ 위기 1: 수강생 이탈 &amp; 퇴원율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동기부여의 부재: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 문을 나서는 순간 집과 독서실에서 스마트폰 중독 및 슬럼프 발생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인강/독학 전향: </a:t>
            </a:r>
            <a:r>
              <a:rPr sz="950">
                <a:solidFill>
                  <a:srgbClr val="94A3B8"/>
                </a:solidFill>
                <a:latin typeface="Malgun Gothic"/>
              </a:rPr>
              <a:t>혼자서 공부하겠다는 학생의 이탈을 막을 객관적 학습 몰입 장치 부재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수동적 사후 관리: </a:t>
            </a:r>
            <a:r>
              <a:rPr sz="950">
                <a:solidFill>
                  <a:srgbClr val="94A3B8"/>
                </a:solidFill>
                <a:latin typeface="Malgun Gothic"/>
              </a:rPr>
              <a:t>퇴원 통보를 받고 나서야 학생의 학습 부진을 인지하는 구조적 악순환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PALIN OS 솔루션: </a:t>
            </a:r>
            <a:r>
              <a:rPr sz="950">
                <a:solidFill>
                  <a:srgbClr val="94A3B8"/>
                </a:solidFill>
                <a:latin typeface="Malgun Gothic"/>
              </a:rPr>
              <a:t>Strava식 동네 랭킹전 + Beeminder 금융 인질 보증금으로 자발적 일일 학습 100% 강제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⚠️ 위기 2: 학부모 소통 피로도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심야 상담 전화: </a:t>
            </a:r>
            <a:r>
              <a:rPr sz="950">
                <a:solidFill>
                  <a:srgbClr val="94A3B8"/>
                </a:solidFill>
                <a:latin typeface="Malgun Gothic"/>
              </a:rPr>
              <a:t>매주 반복되는 학부모의 불안감 해소를 위한 감정 소모 및 업무 과부하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정량적 증거 부재: </a:t>
            </a:r>
            <a:r>
              <a:rPr sz="950">
                <a:solidFill>
                  <a:srgbClr val="94A3B8"/>
                </a:solidFill>
                <a:latin typeface="Malgun Gothic"/>
              </a:rPr>
              <a:t>아이의 학습 태도와 자습 시간에 대한 실시간 데이터 증빙 어려움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수납/교재비 마찰: </a:t>
            </a:r>
            <a:r>
              <a:rPr sz="950">
                <a:solidFill>
                  <a:srgbClr val="94A3B8"/>
                </a:solidFill>
                <a:latin typeface="Malgun Gothic"/>
              </a:rPr>
              <a:t>수업료 납부일마다 반복되는 어색하고 번거로운 수납 독촉 커뮤니케이션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PALIN OS 솔루션: </a:t>
            </a:r>
            <a:r>
              <a:rPr sz="950">
                <a:solidFill>
                  <a:srgbClr val="94A3B8"/>
                </a:solidFill>
                <a:latin typeface="Malgun Gothic"/>
              </a:rPr>
              <a:t>매일 밤 22:00 실시간 안심 리포트 자동 발송 + AI 주간 생존 보고서 자동 발간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⚠️ 위기 3: 원장/강사 리소스 낭비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과도한 행정 업무: </a:t>
            </a:r>
            <a:r>
              <a:rPr sz="950">
                <a:solidFill>
                  <a:srgbClr val="94A3B8"/>
                </a:solidFill>
                <a:latin typeface="Malgun Gothic"/>
              </a:rPr>
              <a:t>출결 체크, 모의고사 성적표 수기 입력, 상담 일지 기록으로 본업 침해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 지식의 유실: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원장님만의 독보적 입시/상담 노하우가 강사 퇴사 시 학원 밖으로 유출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브랜드 가치 희석: </a:t>
            </a:r>
            <a:r>
              <a:rPr sz="950">
                <a:solidFill>
                  <a:srgbClr val="94A3B8"/>
                </a:solidFill>
                <a:latin typeface="Malgun Gothic"/>
              </a:rPr>
              <a:t>대형 프랜차이즈 및 일타 강사 플랫폼 대비 차별화된 IT 인프라 부재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PALIN OS 솔루션: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원장님 전용 AI 뇌 이식(RAG) + 화이트라벨링 전용 앱 구축으로 지역 1위 방어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02. 시스템 아키텍처: 수험생 · 학부모 · 학원 3자 유기적 연동 생태계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🧑‍🎓 1. 수험생 모바일 클라이언트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Strava식 랭킹전: </a:t>
            </a:r>
            <a:r>
              <a:rPr sz="950">
                <a:solidFill>
                  <a:srgbClr val="94A3B8"/>
                </a:solidFill>
                <a:latin typeface="Malgun Gothic"/>
              </a:rPr>
              <a:t>우리 동네(분당구, 강남구 등) 및 고등학교별 실시간 자습 순위 리더보드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Beeminder 보증금: </a:t>
            </a:r>
            <a:r>
              <a:rPr sz="950">
                <a:solidFill>
                  <a:srgbClr val="94A3B8"/>
                </a:solidFill>
                <a:latin typeface="Malgun Gothic"/>
              </a:rPr>
              <a:t>06:30 기상/23:30 취침 미션 실패 시 1,000원~5,000원 벌금 에스크로 차감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정시 합격예측: </a:t>
            </a:r>
            <a:r>
              <a:rPr sz="950">
                <a:solidFill>
                  <a:srgbClr val="94A3B8"/>
                </a:solidFill>
                <a:latin typeface="Malgun Gothic"/>
              </a:rPr>
              <a:t>11,688개 대학/학과 백분위 기반 적정/소신 실시간 정밀 진단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목표 D-Day 뱃지: </a:t>
            </a:r>
            <a:r>
              <a:rPr sz="950">
                <a:solidFill>
                  <a:srgbClr val="94A3B8"/>
                </a:solidFill>
                <a:latin typeface="Malgun Gothic"/>
              </a:rPr>
              <a:t>목표 대학 가상 학생증(27학번) 발급 및 인스타그램 합격 부적 공유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1% VIP 블랙라운지: </a:t>
            </a:r>
            <a:r>
              <a:rPr sz="950">
                <a:solidFill>
                  <a:srgbClr val="94A3B8"/>
                </a:solidFill>
                <a:latin typeface="Malgun Gothic"/>
              </a:rPr>
              <a:t>의치한약수 멘토링 및 실시간 비대면 입시 Q&amp;A 질의응답 창구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👨‍👩‍👧 2. 학부모 실시간 안심 포털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매일 밤 22:00 리포트: </a:t>
            </a:r>
            <a:r>
              <a:rPr sz="950">
                <a:solidFill>
                  <a:srgbClr val="94A3B8"/>
                </a:solidFill>
                <a:latin typeface="Malgun Gothic"/>
              </a:rPr>
              <a:t>오늘 총 자습시간, 일일 목표 달성률, 생활 미션 성공 여부 자동 알림톡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긴급 결석/이탈 SMS: </a:t>
            </a:r>
            <a:r>
              <a:rPr sz="950">
                <a:solidFill>
                  <a:srgbClr val="94A3B8"/>
                </a:solidFill>
                <a:latin typeface="Malgun Gothic"/>
              </a:rPr>
              <a:t>정규 자습 시간 이탈 및 지각 발생 시 0.1초 내 부모님 안심 SMS 자동 발송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 AI 상담 대행: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원장님의 지식이 이식된 24시간 입시 코칭 챗봇으로 1차 질의응답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수업료/교재비 조회: </a:t>
            </a:r>
            <a:r>
              <a:rPr sz="950">
                <a:solidFill>
                  <a:srgbClr val="94A3B8"/>
                </a:solidFill>
                <a:latin typeface="Malgun Gothic"/>
              </a:rPr>
              <a:t>실시간 학원비 수납 현황 및 모의고사 응시 내역 투명 공개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자녀 1:1 독립 뷰: </a:t>
            </a:r>
            <a:r>
              <a:rPr sz="950">
                <a:solidFill>
                  <a:srgbClr val="94A3B8"/>
                </a:solidFill>
                <a:latin typeface="Malgun Gothic"/>
              </a:rPr>
              <a:t>가맹 학원 코드 등록 시 VIP 전액 무료 혜택 자동 부여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🏫 3. 학원장 중앙 통합 관제실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실시간 재원생 레이더: </a:t>
            </a:r>
            <a:r>
              <a:rPr sz="950">
                <a:solidFill>
                  <a:srgbClr val="94A3B8"/>
                </a:solidFill>
                <a:latin typeface="Malgun Gothic"/>
              </a:rPr>
              <a:t>전체 원생의 현재 집중 자습 상태, 잔여 시간, 이탈 징후 실시간 모니터링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 전용 AI 뇌 이식: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원장님의 커리큘럼/상담 대본/입시 철학 RAG 지식 스튜디오 구축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원클릭 긴급 징계: </a:t>
            </a:r>
            <a:r>
              <a:rPr sz="950">
                <a:solidFill>
                  <a:srgbClr val="94A3B8"/>
                </a:solidFill>
                <a:latin typeface="Malgun Gothic"/>
              </a:rPr>
              <a:t>지각/태도 불량 시 원장 직통 레드카드 발부 및 보증금 차감 동시 실행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AI 주간 리포트 발간: </a:t>
            </a:r>
            <a:r>
              <a:rPr sz="950">
                <a:solidFill>
                  <a:srgbClr val="94A3B8"/>
                </a:solidFill>
                <a:latin typeface="Malgun Gothic"/>
              </a:rPr>
              <a:t>매주 화요일 22:00 전 원생 1:1 맞춤형 피드백 카톡 자동 배치 발송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VOD 초단위 추적: </a:t>
            </a:r>
            <a:r>
              <a:rPr sz="950">
                <a:solidFill>
                  <a:srgbClr val="94A3B8"/>
                </a:solidFill>
                <a:latin typeface="Malgun Gothic"/>
              </a:rPr>
              <a:t>강의 녹화본 업로드 및 원생별 초단위 완강률/건너뛰기 감지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03. [수험생 기능 1] Strava 모델 마이크로 지역/고교 랭킹 리더보드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🏆 1. 동네 &amp; 학교별 실시간 랭킹전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전국 단위의 절망감 탈피: </a:t>
            </a:r>
            <a:r>
              <a:rPr sz="950">
                <a:solidFill>
                  <a:srgbClr val="94A3B8"/>
                </a:solidFill>
                <a:latin typeface="Malgun Gothic"/>
              </a:rPr>
              <a:t>전국 50만 수험생과의 무의미한 비교 대신 '대치동', '분당구' 등 내 동네 친구들과의 실시간 순위 경쟁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전교 자습 랭킹: </a:t>
            </a:r>
            <a:r>
              <a:rPr sz="950">
                <a:solidFill>
                  <a:srgbClr val="94A3B8"/>
                </a:solidFill>
                <a:latin typeface="Malgun Gothic"/>
              </a:rPr>
              <a:t>소속 고등학교(예: 낙생고, 대치고) 내 전교 1위~10위 실시간 노출로 강력한 자존심 경쟁 유발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실시간 초단위 동기화: </a:t>
            </a:r>
            <a:r>
              <a:rPr sz="950">
                <a:solidFill>
                  <a:srgbClr val="94A3B8"/>
                </a:solidFill>
                <a:latin typeface="Malgun Gothic"/>
              </a:rPr>
              <a:t>타이머 작동 즉시 순위가 변동되며, 1등 탈환 시 실시간 금메달(🥇) 뱃지 자동 부여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0분 학생 무기록 방어: </a:t>
            </a:r>
            <a:r>
              <a:rPr sz="950">
                <a:solidFill>
                  <a:srgbClr val="94A3B8"/>
                </a:solidFill>
                <a:latin typeface="Malgun Gothic"/>
              </a:rPr>
              <a:t>자습 기록이 없는 학생은 '자습 0분 (집계 대기)'로 처리하여 데이터 왜곡 방지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🏫 2. 학교 대항전 (길드전) &amp; Streak 불꽃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학교 대항 길드전: </a:t>
            </a:r>
            <a:r>
              <a:rPr sz="950">
                <a:solidFill>
                  <a:srgbClr val="94A3B8"/>
                </a:solidFill>
                <a:latin typeface="Malgun Gothic"/>
              </a:rPr>
              <a:t>고등학교별 주간 총합 자습시간을 집계하여 지역 내 '가장 공부 많이 하는 고등학교' 리더보드 운영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집단 몰입 효과: </a:t>
            </a:r>
            <a:r>
              <a:rPr sz="950">
                <a:solidFill>
                  <a:srgbClr val="94A3B8"/>
                </a:solidFill>
                <a:latin typeface="Malgun Gothic"/>
              </a:rPr>
              <a:t>같은 학교 친구들을 앱으로 초대하여 함께 순위를 올리는 유기적 바이럴 효과 창출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듀오링고 연속 출석 불꽃: </a:t>
            </a:r>
            <a:r>
              <a:rPr sz="950">
                <a:solidFill>
                  <a:srgbClr val="94A3B8"/>
                </a:solidFill>
                <a:latin typeface="Malgun Gothic"/>
              </a:rPr>
              <a:t>하루라도 미션 실패 시 불꽃이 꺼지는 연속 일수(Streak) 시스템으로 매일 접속 강제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성실도 5대 리그 승급: </a:t>
            </a:r>
            <a:r>
              <a:rPr sz="950">
                <a:solidFill>
                  <a:srgbClr val="94A3B8"/>
                </a:solidFill>
                <a:latin typeface="Malgun Gothic"/>
              </a:rPr>
              <a:t>Bronze(1.0x)부터 Diamond/Master(2.5x)까지 연속 자습에 따른 포인트 배수 보상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04. [수험생 기능 2] Beeminder 금융 인질 성실 보증금 &amp; D-Day 합격 부적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43F5E"/>
                </a:solidFill>
                <a:latin typeface="Malgun Gothic"/>
              </a:defRPr>
            </a:pPr>
            <a:r>
              <a:t>🛡️ 1. 금융 인질 에스크로 (손실 회피 심리)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기본 보증금 50,000원 예치: </a:t>
            </a:r>
            <a:r>
              <a:rPr sz="950">
                <a:solidFill>
                  <a:srgbClr val="94A3B8"/>
                </a:solidFill>
                <a:latin typeface="Malgun Gothic"/>
              </a:rPr>
              <a:t>가입 시 성실 보증금을 예치하고, 일일 생활 미션을 성실히 수행할 의무 부여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06:30 기상 / 23:30 취침 미션: </a:t>
            </a:r>
            <a:r>
              <a:rPr sz="950">
                <a:solidFill>
                  <a:srgbClr val="94A3B8"/>
                </a:solidFill>
                <a:latin typeface="Malgun Gothic"/>
              </a:rPr>
              <a:t>정해진 시간에 성공 인증 버튼을 누르지 못할 경우 1,000원~5,000원 즉시 차감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손실 회피(Loss Aversion) 극대화: </a:t>
            </a:r>
            <a:r>
              <a:rPr sz="950">
                <a:solidFill>
                  <a:srgbClr val="94A3B8"/>
                </a:solidFill>
                <a:latin typeface="Malgun Gothic"/>
              </a:rPr>
              <a:t>보상보다 벌금에 2.5배 민감하게 반응하는 행동경제학 기반 강력한 기상/취침 강제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누적 벌금 투명 공개: </a:t>
            </a:r>
            <a:r>
              <a:rPr sz="950">
                <a:solidFill>
                  <a:srgbClr val="94A3B8"/>
                </a:solidFill>
                <a:latin typeface="Malgun Gothic"/>
              </a:rPr>
              <a:t>마이페이지에서 보증금 잔액 및 누적 벌금을 실시간으로 확인하여 경각심 유지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06B6D4"/>
                </a:solidFill>
                <a:latin typeface="Malgun Gothic"/>
              </a:defRPr>
            </a:pPr>
            <a:r>
              <a:t>🪪 2. 목표 대학 가상 학생증 &amp; 인스타 합격 부적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27학번 가상 학생증 캔버스: </a:t>
            </a:r>
            <a:r>
              <a:rPr sz="950">
                <a:solidFill>
                  <a:srgbClr val="94A3B8"/>
                </a:solidFill>
                <a:latin typeface="Malgun Gothic"/>
              </a:rPr>
              <a:t>목표 대학(서울대, 연세대, 고려대 등)과 학과가 각인된 실물 스타일 디지털 학생증 즉시 발급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인스타그램 스토리 공유: </a:t>
            </a:r>
            <a:r>
              <a:rPr sz="950">
                <a:solidFill>
                  <a:srgbClr val="94A3B8"/>
                </a:solidFill>
                <a:latin typeface="Malgun Gothic"/>
              </a:rPr>
              <a:t>시험 D-Day와 합격 엠블럼이 포함된 합격 부적을 SNS에 공유하여 학원 브랜드 자연 노출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D-Day 수동 변경 &amp; 커스텀: </a:t>
            </a:r>
            <a:r>
              <a:rPr sz="950">
                <a:solidFill>
                  <a:srgbClr val="94A3B8"/>
                </a:solidFill>
                <a:latin typeface="Malgun Gothic"/>
              </a:rPr>
              <a:t>2027 수능, 6월 모평, 9월 모평, 대학별 논술 고사일을 자유롭게 세팅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안정 마지노선 백업: </a:t>
            </a:r>
            <a:r>
              <a:rPr sz="950">
                <a:solidFill>
                  <a:srgbClr val="94A3B8"/>
                </a:solidFill>
                <a:latin typeface="Malgun Gothic"/>
              </a:rPr>
              <a:t>목표 대학 외에 반드시 합격해야 하는 마지노선 대학을 동시에 설정하여 멘탈 관리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05. [수험생 기능 3] 11,688개 전국 대학/학과 정시 실시간 AI 합격예측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📊 1. 정밀 백분위 &amp; 환산점수 계산 엔진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11,688개 전체 모집단위 수록: </a:t>
            </a:r>
            <a:r>
              <a:rPr sz="950">
                <a:solidFill>
                  <a:srgbClr val="94A3B8"/>
                </a:solidFill>
                <a:latin typeface="Malgun Gothic"/>
              </a:rPr>
              <a:t>전국 주요 4년제 대학의 인문/자연/의약학 계열 전 학과 2026/2027 실측 컷 탑재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국수탐 반영비율 정밀 적용: </a:t>
            </a:r>
            <a:r>
              <a:rPr sz="950">
                <a:solidFill>
                  <a:srgbClr val="94A3B8"/>
                </a:solidFill>
                <a:latin typeface="Malgun Gothic"/>
              </a:rPr>
              <a:t>대학별 국어/수학/탐구 반영비율 가중치를 계산하여 대학별 맞춤 누적 백분위 산출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영어/한국사 감점표 반영: </a:t>
            </a:r>
            <a:r>
              <a:rPr sz="950">
                <a:solidFill>
                  <a:srgbClr val="94A3B8"/>
                </a:solidFill>
                <a:latin typeface="Malgun Gothic"/>
              </a:rPr>
              <a:t>대학별 영어 등급간 차등 감점표 및 한국사 가산점 기준을 100% 알고리즘화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사탐/과탐 교차지원 시뮬레이션: </a:t>
            </a:r>
            <a:r>
              <a:rPr sz="950">
                <a:solidFill>
                  <a:srgbClr val="94A3B8"/>
                </a:solidFill>
                <a:latin typeface="Malgun Gothic"/>
              </a:rPr>
              <a:t>문이과 통합 수능에 따른 사탐 가산점 및 과탐 필수 지원 조건 완벽 필터링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🎯 2. 4단계 합격 진단 판정 &amp; 역전 전략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🟢 안정 (Dark Green): </a:t>
            </a:r>
            <a:r>
              <a:rPr sz="950">
                <a:solidFill>
                  <a:srgbClr val="94A3B8"/>
                </a:solidFill>
                <a:latin typeface="Malgun Gothic"/>
              </a:rPr>
              <a:t>적정 누백 이하의 안정 지원군 (합격 확률 90% 이상)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🟩 적정 (Light Green): </a:t>
            </a:r>
            <a:r>
              <a:rPr sz="950">
                <a:solidFill>
                  <a:srgbClr val="94A3B8"/>
                </a:solidFill>
                <a:latin typeface="Malgun Gothic"/>
              </a:rPr>
              <a:t>예상 누백 범위 내의 소신 합격선 (합격 확률 70%~80%)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🟡 소신 (Yellow): </a:t>
            </a:r>
            <a:r>
              <a:rPr sz="950">
                <a:solidFill>
                  <a:srgbClr val="94A3B8"/>
                </a:solidFill>
                <a:latin typeface="Malgun Gothic"/>
              </a:rPr>
              <a:t>소신 누백 상단에 걸치는 상향 도전선 (합격 확률 40%~60%)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🔴 위험 (Red): </a:t>
            </a:r>
            <a:r>
              <a:rPr sz="950">
                <a:solidFill>
                  <a:srgbClr val="94A3B8"/>
                </a:solidFill>
                <a:latin typeface="Malgun Gothic"/>
              </a:rPr>
              <a:t>현재 성적으로 합격이 어려운 불합격 위험선 (목표 격차 제시)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0.1초 즉시 검색 &amp; 필터링: </a:t>
            </a:r>
            <a:r>
              <a:rPr sz="950">
                <a:solidFill>
                  <a:srgbClr val="94A3B8"/>
                </a:solidFill>
                <a:latin typeface="Malgun Gothic"/>
              </a:rPr>
              <a:t>모집군(가/나/다군), 지역(서울/경기/지방), 학과 키워드로 0.1초 내 정렬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06. [수험생 기능 4] 상위 1% VIP 블랙 라운지 &amp; 메디컬 튜터 매칭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👑 1. 상위 1% 폐쇄형 VIP 블랙 라운지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상위 1% 자습 달성자 독점: </a:t>
            </a:r>
            <a:r>
              <a:rPr sz="950">
                <a:solidFill>
                  <a:srgbClr val="94A3B8"/>
                </a:solidFill>
                <a:latin typeface="Malgun Gothic"/>
              </a:rPr>
              <a:t>주간 연속 자습 상위 1%를 달성한 최상위권 수험생만 글을 열람하고 작성 가능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폐쇄형 심층 Q&amp;A: </a:t>
            </a:r>
            <a:r>
              <a:rPr sz="950">
                <a:solidFill>
                  <a:srgbClr val="94A3B8"/>
                </a:solidFill>
                <a:latin typeface="Malgun Gothic"/>
              </a:rPr>
              <a:t>의치한약수 및 SKY 재학생 멘토들이 직접 답변하는 고난도 킬러 문항 및 입시 전략 토론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VIP 골드 엠블럼 부여: </a:t>
            </a:r>
            <a:r>
              <a:rPr sz="950">
                <a:solidFill>
                  <a:srgbClr val="94A3B8"/>
                </a:solidFill>
                <a:latin typeface="Malgun Gothic"/>
              </a:rPr>
              <a:t>자습을 열심히 한 학생에게만 열리는 명예의 전당으로 학생들의 강력한 도전 욕구 자극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학원 내 스타 플레이어 육성: </a:t>
            </a:r>
            <a:r>
              <a:rPr sz="950">
                <a:solidFill>
                  <a:srgbClr val="94A3B8"/>
                </a:solidFill>
                <a:latin typeface="Malgun Gothic"/>
              </a:rPr>
              <a:t>우리 학원 소속 학생이 VIP 라운지에 입성할 때마다 학원 전체의 학습 분위기 견인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🧑‍🏫 2. 검증된 명문대 튜터 1:1 과외 매칭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수능 만점자/의대생 멘토단: </a:t>
            </a:r>
            <a:r>
              <a:rPr sz="950">
                <a:solidFill>
                  <a:srgbClr val="94A3B8"/>
                </a:solidFill>
                <a:latin typeface="Malgun Gothic"/>
              </a:rPr>
              <a:t>수능 성적표 및 학생증 인증을 거친 검증된 튜터 프로필 투명 공개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과목별 1:1 질의응답: </a:t>
            </a:r>
            <a:r>
              <a:rPr sz="950">
                <a:solidFill>
                  <a:srgbClr val="94A3B8"/>
                </a:solidFill>
                <a:latin typeface="Malgun Gothic"/>
              </a:rPr>
              <a:t>수학 킬러, 국어 독서, 과탐 등 취약 단원 집중 클리닉 의뢰 가능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PALIN 캐시 지갑 연동: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 포인트 및 유료 캐시를 활용한 안전 결제 시스템 탑재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 관리 감독 하에 운영: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학원장 관제실에서 튜터 매칭 현황을 실시간으로 모니터링하여 안전성 확보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07. [학부모 안심 포털] 매일 밤 22:00 실시간 알림톡 &amp; 긴급 상황 자동 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📱 1. 매일 밤 22:00 안심 리포트 자동 발송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당일 총 자습시간 보고: </a:t>
            </a:r>
            <a:r>
              <a:rPr sz="950">
                <a:solidFill>
                  <a:srgbClr val="94A3B8"/>
                </a:solidFill>
                <a:latin typeface="Malgun Gothic"/>
              </a:rPr>
              <a:t>오늘 학생이 독서실/학원에서 몇 시간 몇 분 집중했는지 정확한 분 단위 수치 제공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일일 생활 미션 결과: </a:t>
            </a:r>
            <a:r>
              <a:rPr sz="950">
                <a:solidFill>
                  <a:srgbClr val="94A3B8"/>
                </a:solidFill>
                <a:latin typeface="Malgun Gothic"/>
              </a:rPr>
              <a:t>06:30 기상 성공 여부, 23:30 수면 모드 진입 여부를 학부모에게 자동 브리핑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학습 태도 종합 평점: </a:t>
            </a:r>
            <a:r>
              <a:rPr sz="950">
                <a:solidFill>
                  <a:srgbClr val="94A3B8"/>
                </a:solidFill>
                <a:latin typeface="Malgun Gothic"/>
              </a:rPr>
              <a:t>AI 집중도 분석에 따른 '오늘의 성실도 지수(100점 만점)' 자동 채점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만족도 98% 달성: </a:t>
            </a:r>
            <a:r>
              <a:rPr sz="950">
                <a:solidFill>
                  <a:srgbClr val="94A3B8"/>
                </a:solidFill>
                <a:latin typeface="Malgun Gothic"/>
              </a:rPr>
              <a:t>학부모가 학원에 묻지 않아도 매일 밤 정밀 리포트가 도착하여 학원 신뢰도 극대화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43F5E"/>
                </a:solidFill>
                <a:latin typeface="Malgun Gothic"/>
              </a:defRPr>
            </a:pPr>
            <a:r>
              <a:t>🚨 2. 긴급 이탈/결석 SMS &amp; 투명 수납 관리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자습 무단 이탈 즉시 감지: </a:t>
            </a:r>
            <a:r>
              <a:rPr sz="950">
                <a:solidFill>
                  <a:srgbClr val="94A3B8"/>
                </a:solidFill>
                <a:latin typeface="Malgun Gothic"/>
              </a:rPr>
              <a:t>정해진 자습 시간에 타이머가 중단되거나 자리 이탈 시 0.1초 내 부모님께 안내 문자 발송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기상 실패 실시간 통보: </a:t>
            </a:r>
            <a:r>
              <a:rPr sz="950">
                <a:solidFill>
                  <a:srgbClr val="94A3B8"/>
                </a:solidFill>
                <a:latin typeface="Malgun Gothic"/>
              </a:rPr>
              <a:t>아침 06:30 미션 실패 시 '학생이 아직 기상하지 않았습니다' 자동 통보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학원비/교재비 간편 조회: </a:t>
            </a:r>
            <a:r>
              <a:rPr sz="950">
                <a:solidFill>
                  <a:srgbClr val="94A3B8"/>
                </a:solidFill>
                <a:latin typeface="Malgun Gothic"/>
              </a:rPr>
              <a:t>미납금 및 결제 내역을 투명하게 확인하여 원장님의 수납 독촉 전화 부담 100% 해소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전용 1:1 건의함: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원장님 관제실로 직접 전달되는 프라이빗 소통 창구 제공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08. [원장 관제실 1] 실시간 재원생 레이더 &amp; 출결·좌석 매트릭스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06B6D4"/>
                </a:solidFill>
                <a:latin typeface="Malgun Gothic"/>
              </a:defRPr>
            </a:pPr>
            <a:r>
              <a:t>📡 1. 실시간 재원생 라이브 레이더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전체 원생 상태 한눈에 관제: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 자습실, 독서실, 집에서 공부 중인 모든 학생의 타이머가 실시간 초단위로 깜빡이며 표시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집중 / 휴식 / 이탈 3단계 감지: </a:t>
            </a:r>
            <a:r>
              <a:rPr sz="950">
                <a:solidFill>
                  <a:srgbClr val="94A3B8"/>
                </a:solidFill>
                <a:latin typeface="Malgun Gothic"/>
              </a:rPr>
              <a:t>공부 중(초록), 자리비움(노랑), 15분 이상 이탈(빨강) 자동 시각화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퇴원 위험군 AI 조기 경보: </a:t>
            </a:r>
            <a:r>
              <a:rPr sz="950">
                <a:solidFill>
                  <a:srgbClr val="94A3B8"/>
                </a:solidFill>
                <a:latin typeface="Malgun Gothic"/>
              </a:rPr>
              <a:t>최근 3일간 자습 시간이 50% 이상 급감한 슬럼프 학생을 상단에 자동 배치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좌석 배치도(Seat Map) 연동: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 내 1번~100번 좌석별 착석 현황 및 실시간 이용자 프로필 즉시 조회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📋 2. 출결 매트릭스 &amp; 원클릭 SMS 호출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자동 등원/하원 체크: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학생이 학원 WiFi 접속 또는 앱 체크인 시 원장 관제실에 등원 시각 자동 기록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무단 지각생 원클릭 호출: </a:t>
            </a:r>
            <a:r>
              <a:rPr sz="950">
                <a:solidFill>
                  <a:srgbClr val="94A3B8"/>
                </a:solidFill>
                <a:latin typeface="Malgun Gothic"/>
              </a:rPr>
              <a:t>수업 시작 10분 전까지 미등원한 학생 전원에게 원클릭으로 '출석 독려 SMS' 일괄 발송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출결 엑셀 자동 다운로드: </a:t>
            </a:r>
            <a:r>
              <a:rPr sz="950">
                <a:solidFill>
                  <a:srgbClr val="94A3B8"/>
                </a:solidFill>
                <a:latin typeface="Malgun Gothic"/>
              </a:rPr>
              <a:t>교육청 보고 및 학원 세무 처리를 위한 월간 출결 대장 1초 만에 엑셀 추출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안심 문자 연동: </a:t>
            </a:r>
            <a:r>
              <a:rPr sz="950">
                <a:solidFill>
                  <a:srgbClr val="94A3B8"/>
                </a:solidFill>
                <a:latin typeface="Malgun Gothic"/>
              </a:rPr>
              <a:t>등원 시 '학원에 안전하게 도착했습니다', 하원 시 '하원 완료' 부모님 자동 통보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09. [원장 관제실 2] 원장님 전용 AI 뇌 이식 (RAG 지식 스튜디오)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🧠 1. 원장님의 입시 철학 &amp; 상담 노하우 RAG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학원 고유 자료 무제한 업로드: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원장님의 강의 교재, 커리큘럼 소개서, 수시/정시 상담 대본, 학원 규칙 PDF/TXT 업로드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실시간 벡터 DB 임베딩: </a:t>
            </a:r>
            <a:r>
              <a:rPr sz="950">
                <a:solidFill>
                  <a:srgbClr val="94A3B8"/>
                </a:solidFill>
                <a:latin typeface="Malgun Gothic"/>
              </a:rPr>
              <a:t>업로드 즉시 Gemini AI가 원장님의 지식을 학습하여 학원 전용 AI 두뇌로 동적 병합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타 학원과의 기술적 격차: </a:t>
            </a:r>
            <a:r>
              <a:rPr sz="950">
                <a:solidFill>
                  <a:srgbClr val="94A3B8"/>
                </a:solidFill>
                <a:latin typeface="Malgun Gothic"/>
              </a:rPr>
              <a:t>일반 범용 ChatGPT와 달리, '우리 학원만의 커리큘럼과 원장님 방침'으로만 완벽하게 답변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강사 퇴사 리스크 제로: </a:t>
            </a:r>
            <a:r>
              <a:rPr sz="950">
                <a:solidFill>
                  <a:srgbClr val="94A3B8"/>
                </a:solidFill>
                <a:latin typeface="Malgun Gothic"/>
              </a:rPr>
              <a:t>강사가 바뀌어도 학원의 핵심 입시 노하우와 상담 퀄리티는 AI 관제실에 영구 보존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💬 2. 24시간 원장 페르소나 상담 챗봇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학생 코칭 대행: </a:t>
            </a:r>
            <a:r>
              <a:rPr sz="950">
                <a:solidFill>
                  <a:srgbClr val="94A3B8"/>
                </a:solidFill>
                <a:latin typeface="Malgun Gothic"/>
              </a:rPr>
              <a:t>새벽 2시에 학생이 질문해도 원장님의 어투와 교육 철학으로 격려 및 학습 가이드 제공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1차 입시 상담 대행: </a:t>
            </a:r>
            <a:r>
              <a:rPr sz="950">
                <a:solidFill>
                  <a:srgbClr val="94A3B8"/>
                </a:solidFill>
                <a:latin typeface="Malgun Gothic"/>
              </a:rPr>
              <a:t>수시 전형 선택, 모의고사 성적 피드백 등 학부모 질문에 원장님 수준의 정밀한 답변 즉시 생성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원장님 직통 질문 필터링: </a:t>
            </a:r>
            <a:r>
              <a:rPr sz="950">
                <a:solidFill>
                  <a:srgbClr val="94A3B8"/>
                </a:solidFill>
                <a:latin typeface="Malgun Gothic"/>
              </a:rPr>
              <a:t>AI가 해결하기 어려운 특급 상담만 원장님께 연결하여 상담 업무 리소스 90% 절감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시스템 프롬프트 커스텀: </a:t>
            </a:r>
            <a:r>
              <a:rPr sz="950">
                <a:solidFill>
                  <a:srgbClr val="94A3B8"/>
                </a:solidFill>
                <a:latin typeface="Malgun Gothic"/>
              </a:rPr>
              <a:t>엄격한 스파르타식 원장, 따뜻한 멘토형 원장 등 학원 색깔에 맞춰 성격 자유 세팅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10. [원장 관제실 3] 원장 직통 원클릭 레드카드 징계 &amp; 보증금 차감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43F5E"/>
                </a:solidFill>
                <a:latin typeface="Malgun Gothic"/>
              </a:defRPr>
            </a:pPr>
            <a:r>
              <a:t>🟥 1. 원클릭 레드카드 발부 시스템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학원 내 기강 확립의 핵심: </a:t>
            </a:r>
            <a:r>
              <a:rPr sz="950">
                <a:solidFill>
                  <a:srgbClr val="94A3B8"/>
                </a:solidFill>
                <a:latin typeface="Malgun Gothic"/>
              </a:rPr>
              <a:t>자습 중 졸음, 스마트폰 몰래 사용, 잡담, 무단 외출 적발 시 관제실에서 즉시 클릭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사유별 차등 징계: </a:t>
            </a:r>
            <a:r>
              <a:rPr sz="950">
                <a:solidFill>
                  <a:srgbClr val="94A3B8"/>
                </a:solidFill>
                <a:latin typeface="Malgun Gothic"/>
              </a:rPr>
              <a:t>경고(Yellow), 자습실 퇴실(Red), 성실 보증금 차감(Penalty) 3단계 제재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학생 앱 화면 즉시 차단: </a:t>
            </a:r>
            <a:r>
              <a:rPr sz="950">
                <a:solidFill>
                  <a:srgbClr val="94A3B8"/>
                </a:solidFill>
                <a:latin typeface="Malgun Gothic"/>
              </a:rPr>
              <a:t>레드카드 발부 즉시 학생 화면에 붉은색 경고 오버레이가 팝업되며 자습 타이머 정지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학원 규율 100% 자동화: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원장이 직접 언성을 높이지 않고도 앱 시스템을 통해 깔끔하고 공정한 징계 집행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💸 2. 에스크로 벌금 차감 &amp; 학부모 즉시 통보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성실 보증금 즉시 차감: </a:t>
            </a:r>
            <a:r>
              <a:rPr sz="950">
                <a:solidFill>
                  <a:srgbClr val="94A3B8"/>
                </a:solidFill>
                <a:latin typeface="Malgun Gothic"/>
              </a:rPr>
              <a:t>레드카드 사유에 따라 학생의 보증금에서 1,000원~5,000원 벌금 즉시 에스크로 삭감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긴급 징계 SMS 자동 발송: </a:t>
            </a:r>
            <a:r>
              <a:rPr sz="950">
                <a:solidFill>
                  <a:srgbClr val="94A3B8"/>
                </a:solidFill>
                <a:latin typeface="Malgun Gothic"/>
              </a:rPr>
              <a:t>'[일원학원] 김철수 학생이 자습 중 스마트폰 사용으로 레드카드가 발부되었습니다' 문자 자동 발송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학부모와의 마찰 원천 차단: </a:t>
            </a:r>
            <a:r>
              <a:rPr sz="950">
                <a:solidFill>
                  <a:srgbClr val="94A3B8"/>
                </a:solidFill>
                <a:latin typeface="Malgun Gothic"/>
              </a:rPr>
              <a:t>시스템 로그와 타임스탬프가 부모님께 투명하게 전송되어 학부모의 이의 제기 제로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원생 자정 작용: </a:t>
            </a:r>
            <a:r>
              <a:rPr sz="950">
                <a:solidFill>
                  <a:srgbClr val="94A3B8"/>
                </a:solidFill>
                <a:latin typeface="Malgun Gothic"/>
              </a:rPr>
              <a:t>벌금과 부모님 통보를 두려워하여 학생 스스로 면학 분위기를 유지하는 놀라운 효과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11. [원장 관제실 4] 매주 화요일 22:00 AI 주간 생존 리포트 자동 일괄 발간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📑 1. Gemini AI 1:1 맞춤 주간 종합 분석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한 주간의 빅데이터 정밀 진단: </a:t>
            </a:r>
            <a:r>
              <a:rPr sz="950">
                <a:solidFill>
                  <a:srgbClr val="94A3B8"/>
                </a:solidFill>
                <a:latin typeface="Malgun Gothic"/>
              </a:rPr>
              <a:t>총 자습시간, 일일 목표 달성률, 생활미션 성공률, 주간 모의고사 성적 변동률 통합 분석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300자 카카오톡 전용 대본 생성: </a:t>
            </a:r>
            <a:r>
              <a:rPr sz="950">
                <a:solidFill>
                  <a:srgbClr val="94A3B8"/>
                </a:solidFill>
                <a:latin typeface="Malgun Gothic"/>
              </a:rPr>
              <a:t>딱딱한 그래프가 아닌, 원장님이 직접 작성한 듯한 자연스럽고 따뜻한 300자 줄글 피드백 생성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취약점 &amp; 개선 행동 강령 제시: </a:t>
            </a:r>
            <a:r>
              <a:rPr sz="950">
                <a:solidFill>
                  <a:srgbClr val="94A3B8"/>
                </a:solidFill>
                <a:latin typeface="Malgun Gothic"/>
              </a:rPr>
              <a:t>'이번 주는 수학 자습량이 20% 부족했습니다. 다음 주에는 오답 노트 작성을 늘리겠습니다'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 검토 및 원클릭 발송: </a:t>
            </a:r>
            <a:r>
              <a:rPr sz="950">
                <a:solidFill>
                  <a:srgbClr val="94A3B8"/>
                </a:solidFill>
                <a:latin typeface="Malgun Gothic"/>
              </a:rPr>
              <a:t>화요일 저녁 관제실에서 AI가 작성한 리포트를 1초 검토 후 전교생 학부모에게 일괄 전송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💰 2. 지능형 수납 촉구 &amp; 퇴원 방어 효과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미납 학부모 맞춤 문구 자동 삽입: </a:t>
            </a:r>
            <a:r>
              <a:rPr sz="950">
                <a:solidFill>
                  <a:srgbClr val="94A3B8"/>
                </a:solidFill>
                <a:latin typeface="Malgun Gothic"/>
              </a:rPr>
              <a:t>수업료 미납 학생의 경우 리포트 하단에 '수강료 결제 안내' 링크가 정중하게 자동 포함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감동 &amp; 재등록률 99%: </a:t>
            </a:r>
            <a:r>
              <a:rPr sz="950">
                <a:solidFill>
                  <a:srgbClr val="94A3B8"/>
                </a:solidFill>
                <a:latin typeface="Malgun Gothic"/>
              </a:rPr>
              <a:t>매주 화요일 밤마다 도착하는 고품격 AI 리포트로 인해 학부모의 학원 만족도 극대화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상담 시간 80% 단축: </a:t>
            </a:r>
            <a:r>
              <a:rPr sz="950">
                <a:solidFill>
                  <a:srgbClr val="94A3B8"/>
                </a:solidFill>
                <a:latin typeface="Malgun Gothic"/>
              </a:rPr>
              <a:t>이미 모든 학습 데이터가 리포트에 담겨 있어, 전화 상담 시간이 1인당 2분 미만으로 단축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완벽한 마케팅 무기: </a:t>
            </a:r>
            <a:r>
              <a:rPr sz="950">
                <a:solidFill>
                  <a:srgbClr val="94A3B8"/>
                </a:solidFill>
                <a:latin typeface="Malgun Gothic"/>
              </a:rPr>
              <a:t>학부모들이 주변 맘카페와 단톡방에 리포트를 공유하며 신규 원생 문의 폭증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12. [원장 관제실 5] VOD 인강 스토리지 &amp; 초단위 완강률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06B6D4"/>
                </a:solidFill>
                <a:latin typeface="Malgun Gothic"/>
              </a:defRPr>
            </a:pPr>
            <a:r>
              <a:t>🎥 1. 학원 전용 VOD 인강 라이브러리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원장님 현장 강의 녹화본 탑재: </a:t>
            </a:r>
            <a:r>
              <a:rPr sz="950">
                <a:solidFill>
                  <a:srgbClr val="94A3B8"/>
                </a:solidFill>
                <a:latin typeface="Malgun Gothic"/>
              </a:rPr>
              <a:t>수업 결석생 보충 및 심화 복습을 위한 고화질 VOD 강의 스토리지 제공 (50GB~무제한)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등급별/반별 수강 권한 제어: </a:t>
            </a:r>
            <a:r>
              <a:rPr sz="950">
                <a:solidFill>
                  <a:srgbClr val="94A3B8"/>
                </a:solidFill>
                <a:latin typeface="Malgun Gothic"/>
              </a:rPr>
              <a:t>S클래스, 의대반, 정규반 등 수강생 권한에 따라 볼 수 있는 VOD 강의 차등 설정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모바일 &amp; 태블릿 완벽 스트리밍: </a:t>
            </a:r>
            <a:r>
              <a:rPr sz="950">
                <a:solidFill>
                  <a:srgbClr val="94A3B8"/>
                </a:solidFill>
                <a:latin typeface="Malgun Gothic"/>
              </a:rPr>
              <a:t>별도의 플레이어 설치 없이 웹 브라우저에서 0.5초 만에 즉시 재생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불법 복제 &amp; 캡처 방지: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학생 이름 및 휴대폰 번호가 영상 위에 워터마크로 움직이며 화면 녹화 원천 차단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⏱️ 2. 초단위 완강률 &amp; 스킵 감지 분석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진짜로 강의를 들었는지 검증: </a:t>
            </a:r>
            <a:r>
              <a:rPr sz="950">
                <a:solidFill>
                  <a:srgbClr val="94A3B8"/>
                </a:solidFill>
                <a:latin typeface="Malgun Gothic"/>
              </a:rPr>
              <a:t>단순히 틀어놓기만 한 것인지, 끝까지 집중해서 시청했는지 초단위 타임라인 추적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배속 재생 &amp; 건너뛰기 감지: </a:t>
            </a:r>
            <a:r>
              <a:rPr sz="950">
                <a:solidFill>
                  <a:srgbClr val="94A3B8"/>
                </a:solidFill>
                <a:latin typeface="Malgun Gothic"/>
              </a:rPr>
              <a:t>2배속 이상 재생하거나 중요한 개념 설명 구간을 스킵한 경우 '날림 수강' 플래그 경고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완강 미달 시 보증금 차감 연동: </a:t>
            </a:r>
            <a:r>
              <a:rPr sz="950">
                <a:solidFill>
                  <a:srgbClr val="94A3B8"/>
                </a:solidFill>
                <a:latin typeface="Malgun Gothic"/>
              </a:rPr>
              <a:t>지정된 날짜까지 VOD를 100% 완강하지 않을 경우 자동으로 과제 미제출 처리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부모님 안심 알림톡 연동: </a:t>
            </a:r>
            <a:r>
              <a:rPr sz="950">
                <a:solidFill>
                  <a:srgbClr val="94A3B8"/>
                </a:solidFill>
                <a:latin typeface="Malgun Gothic"/>
              </a:rPr>
              <a:t>주말 VOD 복습 완료 시 '이번 주 보충 강의 100% 완강 완료' 부모님 알림톡 자동 발송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13. [원장 관제실 6] 주차별 모의고사 성적 엑셀 일괄 진단 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📈 1. 주차별 모의고사 성적 엑셀 일괄 등록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엑셀 파일 드래그 앤 드롭: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학원에서 자체 실시한 주간/월간 모의고사 성적표 엑셀을 끌어다 놓으면 1초 만에 전산 반영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국수영탐 원점수/표준점수 자동 계산: </a:t>
            </a:r>
            <a:r>
              <a:rPr sz="950">
                <a:solidFill>
                  <a:srgbClr val="94A3B8"/>
                </a:solidFill>
                <a:latin typeface="Malgun Gothic"/>
              </a:rPr>
              <a:t>점수 입력 즉시 전국 컷 대비 예상 등급 및 백분위가 자동 변환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개인별 성적 누적 궤적 차트: </a:t>
            </a:r>
            <a:r>
              <a:rPr sz="950">
                <a:solidFill>
                  <a:srgbClr val="94A3B8"/>
                </a:solidFill>
                <a:latin typeface="Malgun Gothic"/>
              </a:rPr>
              <a:t>3월부터 11월까지 국어/수학 점수 변화 그래프가 학생/학부모 앱에 실시간 업데이트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취약 문항 유형 자동 분류: </a:t>
            </a:r>
            <a:r>
              <a:rPr sz="950">
                <a:solidFill>
                  <a:srgbClr val="94A3B8"/>
                </a:solidFill>
                <a:latin typeface="Malgun Gothic"/>
              </a:rPr>
              <a:t>수학 미적분 킬러, 국어 비문학 등 학생별 오답 집중 단원을 AI가 자동 추출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🎯 2. 학원 내 등급 컷 &amp; 합격 가능성 재진단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학원 내 석차 백분율 산출: </a:t>
            </a:r>
            <a:r>
              <a:rPr sz="950">
                <a:solidFill>
                  <a:srgbClr val="94A3B8"/>
                </a:solidFill>
                <a:latin typeface="Malgun Gothic"/>
              </a:rPr>
              <a:t>우리 학원 원생 100명 중 상위 10%, 평균 점수, 표준 편차 자동 산출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11,688개 대학 정시 컷 실시간 재연산: </a:t>
            </a:r>
            <a:r>
              <a:rPr sz="950">
                <a:solidFill>
                  <a:srgbClr val="94A3B8"/>
                </a:solidFill>
                <a:latin typeface="Malgun Gothic"/>
              </a:rPr>
              <a:t>모의고사 성적이 등록되는 즉시 학생의 목표 대학 합격 가능성(안정/소신) 재평가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성적표 PDF 원클릭 발급: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 로고와 원장님 직인이 찍힌 프리미엄 컬러 성적 분석표를 PDF로 즉시 출력/발송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입시 상담 무기 확보: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원장실 방문 상담 시 화면에 성적 궤적과 목표 대학 갭 분석을 띄워 압도적 전문성 과시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14. [원장 관제실 7] 100% 화이트라벨링 (학원 단독 브랜딩 구축)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🏢 1. 학원 브랜드 아이덴티티 완벽 적용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학원 상호명 &amp; 로고 전면 배치: </a:t>
            </a:r>
            <a:r>
              <a:rPr sz="950">
                <a:solidFill>
                  <a:srgbClr val="94A3B8"/>
                </a:solidFill>
                <a:latin typeface="Malgun Gothic"/>
              </a:rPr>
              <a:t>앱 상단과 로그인 화면에 'PALIN OS' 대신 '일원학원 입시 관제 OS' 등 원장님 브랜드 단독 노출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학원 고유 테마 컬러 커스텀: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 시그니처 색상(네이비, 버건디, 골드 등)에 맞춰 전체 UI 테마 색상 100% 일치화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단독 도메인 연결 지원: </a:t>
            </a:r>
            <a:r>
              <a:rPr sz="950">
                <a:solidFill>
                  <a:srgbClr val="94A3B8"/>
                </a:solidFill>
                <a:latin typeface="Malgun Gothic"/>
              </a:rPr>
              <a:t>academy.ilwon.com 등 학원 자체 서브 도메인으로 수험생/학부모 접속 가능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지역 1위 학원의 위상 확립: </a:t>
            </a:r>
            <a:r>
              <a:rPr sz="950">
                <a:solidFill>
                  <a:srgbClr val="94A3B8"/>
                </a:solidFill>
                <a:latin typeface="Malgun Gothic"/>
              </a:rPr>
              <a:t>자체 AI 시스템을 개발한 초대형 명문 학원으로 학부모들에게 독보적 신뢰감 부여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🔑 2. 전용 가맹 코드 &amp; 프라이빗 생태계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학원 전용 고유 코드 발급: </a:t>
            </a:r>
            <a:r>
              <a:rPr sz="950">
                <a:solidFill>
                  <a:srgbClr val="94A3B8"/>
                </a:solidFill>
                <a:latin typeface="Malgun Gothic"/>
              </a:rPr>
              <a:t>예: ILWON-2027, DAECHI-SKY 등 학원만의 독점 가맹 초대 코드 부여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재원생 독점 혜택 배정: </a:t>
            </a:r>
            <a:r>
              <a:rPr sz="950">
                <a:solidFill>
                  <a:srgbClr val="94A3B8"/>
                </a:solidFill>
                <a:latin typeface="Malgun Gothic"/>
              </a:rPr>
              <a:t>해당 코드를 입력한 학생은 월 99,000원 상당의 마스터 AI 혜택을 '원장님 전액 지원'으로 무료 이용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외부 유출 차단 폐쇄망: </a:t>
            </a:r>
            <a:r>
              <a:rPr sz="950">
                <a:solidFill>
                  <a:srgbClr val="94A3B8"/>
                </a:solidFill>
                <a:latin typeface="Malgun Gothic"/>
              </a:rPr>
              <a:t>우리 학원 학생들끼리만 참여하는 비공개 자습 랭킹전 및 공지사항 게시판 운영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 승인제 멤버십: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 관제실에서 승인 버튼을 누른 재원생만 관제망에 등록되어 수강생 이탈 원천 봉쇄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15. B2B 엔터프라이즈 요금제 &amp; 티어별 라이선스 스펙 비교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94A3B8"/>
                </a:solidFill>
                <a:latin typeface="Malgun Gothic"/>
              </a:defRPr>
            </a:pPr>
            <a:r>
              <a:t>🥉 Tier 1: 베이직 (스타트업)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월 구독료: </a:t>
            </a:r>
            <a:r>
              <a:rPr sz="950">
                <a:solidFill>
                  <a:srgbClr val="94A3B8"/>
                </a:solidFill>
                <a:latin typeface="Malgun Gothic"/>
              </a:rPr>
              <a:t>월 299,000원 (VAT 별도)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수용 정원: </a:t>
            </a:r>
            <a:r>
              <a:rPr sz="950">
                <a:solidFill>
                  <a:srgbClr val="94A3B8"/>
                </a:solidFill>
                <a:latin typeface="Malgun Gothic"/>
              </a:rPr>
              <a:t>재원생 최대 50명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실시간 관제실: </a:t>
            </a:r>
            <a:r>
              <a:rPr sz="950">
                <a:solidFill>
                  <a:srgbClr val="94A3B8"/>
                </a:solidFill>
                <a:latin typeface="Malgun Gothic"/>
              </a:rPr>
              <a:t>실시간 레이더 &amp; 출결 매트릭스 제공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안심 알림톡: </a:t>
            </a:r>
            <a:r>
              <a:rPr sz="950">
                <a:solidFill>
                  <a:srgbClr val="94A3B8"/>
                </a:solidFill>
                <a:latin typeface="Malgun Gothic"/>
              </a:rPr>
              <a:t>월간 SMS/알림톡 3,000건 기본 충전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VOD 스토리지: </a:t>
            </a:r>
            <a:r>
              <a:rPr sz="950">
                <a:solidFill>
                  <a:srgbClr val="94A3B8"/>
                </a:solidFill>
                <a:latin typeface="Malgun Gothic"/>
              </a:rPr>
              <a:t>50GB 고화질 인강 저장 공간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AI 챗봇: </a:t>
            </a:r>
            <a:r>
              <a:rPr sz="950">
                <a:solidFill>
                  <a:srgbClr val="94A3B8"/>
                </a:solidFill>
                <a:latin typeface="Malgun Gothic"/>
              </a:rPr>
              <a:t>기본 입시 코칭 AI (Gemini 3.6 Flash)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추천 학원: </a:t>
            </a:r>
            <a:r>
              <a:rPr sz="950">
                <a:solidFill>
                  <a:srgbClr val="94A3B8"/>
                </a:solidFill>
                <a:latin typeface="Malgun Gothic"/>
              </a:rPr>
              <a:t>신규 오픈 학원 및 중소형 교습소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🥈 Tier 2: 프로 (성장형 학원)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월 구독료: </a:t>
            </a:r>
            <a:r>
              <a:rPr sz="950">
                <a:solidFill>
                  <a:srgbClr val="94A3B8"/>
                </a:solidFill>
                <a:latin typeface="Malgun Gothic"/>
              </a:rPr>
              <a:t>월 599,000원 (VAT 별도)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수용 정원: </a:t>
            </a:r>
            <a:r>
              <a:rPr sz="950">
                <a:solidFill>
                  <a:srgbClr val="94A3B8"/>
                </a:solidFill>
                <a:latin typeface="Malgun Gothic"/>
              </a:rPr>
              <a:t>재원생 최대 150명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AI 뇌 이식(RAG):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원장님 커리큘럼/상담 대본 전용 RAG 탑재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레드카드 에스크로: </a:t>
            </a:r>
            <a:r>
              <a:rPr sz="950">
                <a:solidFill>
                  <a:srgbClr val="94A3B8"/>
                </a:solidFill>
                <a:latin typeface="Malgun Gothic"/>
              </a:rPr>
              <a:t>금융 인질 보증금 벌금 차감 시스템 가동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AI 주간 리포트: </a:t>
            </a:r>
            <a:r>
              <a:rPr sz="950">
                <a:solidFill>
                  <a:srgbClr val="94A3B8"/>
                </a:solidFill>
                <a:latin typeface="Malgun Gothic"/>
              </a:rPr>
              <a:t>매주 화요일 22:00 전교생 자동 발간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VOD 스토리지: </a:t>
            </a:r>
            <a:r>
              <a:rPr sz="950">
                <a:solidFill>
                  <a:srgbClr val="94A3B8"/>
                </a:solidFill>
                <a:latin typeface="Malgun Gothic"/>
              </a:rPr>
              <a:t>200GB 고화질 저장 공간 &amp; 스킵 감지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안심 알림톡: </a:t>
            </a:r>
            <a:r>
              <a:rPr sz="950">
                <a:solidFill>
                  <a:srgbClr val="94A3B8"/>
                </a:solidFill>
                <a:latin typeface="Malgun Gothic"/>
              </a:rPr>
              <a:t>월간 SMS/알림톡 10,000건 기본 충전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추천 학원: </a:t>
            </a:r>
            <a:r>
              <a:rPr sz="950">
                <a:solidFill>
                  <a:srgbClr val="94A3B8"/>
                </a:solidFill>
                <a:latin typeface="Malgun Gothic"/>
              </a:rPr>
              <a:t>수강생 100명 내외 지역 거점 중대형 학원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🥇 Tier 3: 엔터프라이즈 (대형)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월 구독료: </a:t>
            </a:r>
            <a:r>
              <a:rPr sz="950">
                <a:solidFill>
                  <a:srgbClr val="94A3B8"/>
                </a:solidFill>
                <a:latin typeface="Malgun Gothic"/>
              </a:rPr>
              <a:t>월 999,000원 (VAT 별도)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수용 정원: </a:t>
            </a:r>
            <a:r>
              <a:rPr sz="950">
                <a:solidFill>
                  <a:srgbClr val="94A3B8"/>
                </a:solidFill>
                <a:latin typeface="Malgun Gothic"/>
              </a:rPr>
              <a:t>재원생 무제한 (Unlimited)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100% 화이트라벨링: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 로고, 색상, 자체 도메인 완벽 적용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전용 AI 슈퍼 브레인: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원장님 전용 멀티 에이전트 커스텀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VOD 스토리지: </a:t>
            </a:r>
            <a:r>
              <a:rPr sz="950">
                <a:solidFill>
                  <a:srgbClr val="94A3B8"/>
                </a:solidFill>
                <a:latin typeface="Malgun Gothic"/>
              </a:rPr>
              <a:t>무제한 초고화질 스토리지 + 화면 캡처 방지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모의고사 진단: </a:t>
            </a:r>
            <a:r>
              <a:rPr sz="950">
                <a:solidFill>
                  <a:srgbClr val="94A3B8"/>
                </a:solidFill>
                <a:latin typeface="Malgun Gothic"/>
              </a:rPr>
              <a:t>주차별 엑셀 성적표 자동 채점 &amp; 궤적 진단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전담 엔지니어: </a:t>
            </a:r>
            <a:r>
              <a:rPr sz="950">
                <a:solidFill>
                  <a:srgbClr val="94A3B8"/>
                </a:solidFill>
                <a:latin typeface="Malgun Gothic"/>
              </a:rPr>
              <a:t>24시간 1:1 기술 지원 &amp; 전용 온보딩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추천 학원: </a:t>
            </a:r>
            <a:r>
              <a:rPr sz="950">
                <a:solidFill>
                  <a:srgbClr val="94A3B8"/>
                </a:solidFill>
                <a:latin typeface="Malgun Gothic"/>
              </a:rPr>
              <a:t>대형 단과학원, 재수종합반, 기숙학원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16. 도입 및 온보딩 로드맵: 단 3일 만에 완성되는 학원 전산 혁신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01168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06B6D4"/>
                </a:solidFill>
                <a:latin typeface="Malgun Gothic"/>
              </a:defRPr>
            </a:pPr>
            <a:r>
              <a:t>Day 1: 가맹 신청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도입 문의 접수: </a:t>
            </a:r>
            <a:r>
              <a:rPr sz="950">
                <a:solidFill>
                  <a:srgbClr val="94A3B8"/>
                </a:solidFill>
                <a:latin typeface="Malgun Gothic"/>
              </a:rPr>
              <a:t>이메일 또는 직통 전화로 학원 규모 및 요구사항 접수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티어 선정 및 계약: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 정원에 맞춘 최적의 SaaS 라이선스 확정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관리자 계정 생성: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원장님 전용 보안 PIN 및 마스터 관제실 즉시 개설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371600"/>
            <a:ext cx="201168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Day 2: 브랜딩 세팅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화이트라벨링 반영: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 로고, 대표 색상, 가맹 코드(예: ILWON-2027) 세팅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AI 뇌 이식(RAG):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원장님의 입시 자료 및 상담 대본 벡터 DB 업로드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테스트 시뮬레이션: </a:t>
            </a:r>
            <a:r>
              <a:rPr sz="950">
                <a:solidFill>
                  <a:srgbClr val="94A3B8"/>
                </a:solidFill>
                <a:latin typeface="Malgun Gothic"/>
              </a:rPr>
              <a:t>가상 학생 계정으로 랭킹전 및 결제/알림톡 사전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371600"/>
            <a:ext cx="201168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Day 3: 재원생 배포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원생 일괄 엑셀 등록: </a:t>
            </a:r>
            <a:r>
              <a:rPr sz="950">
                <a:solidFill>
                  <a:srgbClr val="94A3B8"/>
                </a:solidFill>
                <a:latin typeface="Malgun Gothic"/>
              </a:rPr>
              <a:t>기존 원생 명단을 관제실에 1초 만에 일괄 업로드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초대 알림톡 일괄 발송: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학생과 학부모에게 전용 앱 설치 링크 및 코드 안내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앱 가동 &amp; 로그인: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학생들이 즉시 랭킹전에 참여하며 자발적 자습 시작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371600"/>
            <a:ext cx="201168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43F5E"/>
                </a:solidFill>
                <a:latin typeface="Malgun Gothic"/>
              </a:defRPr>
            </a:pPr>
            <a:r>
              <a:t>Week 1: 기강 확립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기상/취침 미션 시작: </a:t>
            </a:r>
            <a:r>
              <a:rPr sz="950">
                <a:solidFill>
                  <a:srgbClr val="94A3B8"/>
                </a:solidFill>
                <a:latin typeface="Malgun Gothic"/>
              </a:rPr>
              <a:t>06:30 기상 및 자습실 출결 에스크로 시스템 본격 가동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레드카드 규칙 정착: </a:t>
            </a:r>
            <a:r>
              <a:rPr sz="950">
                <a:solidFill>
                  <a:srgbClr val="94A3B8"/>
                </a:solidFill>
                <a:latin typeface="Malgun Gothic"/>
              </a:rPr>
              <a:t>지각 및 휴대폰 사용 시 원클릭 징계로 면학 분위기 완성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안심 안착: </a:t>
            </a:r>
            <a:r>
              <a:rPr sz="950">
                <a:solidFill>
                  <a:srgbClr val="94A3B8"/>
                </a:solidFill>
                <a:latin typeface="Malgun Gothic"/>
              </a:rPr>
              <a:t>매일 밤 22:00 도착하는 알림톡으로 학부모 감동 시작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371600"/>
            <a:ext cx="201168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Ongoing: 자동 성장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화요일 AI 주간 리포트: </a:t>
            </a:r>
            <a:r>
              <a:rPr sz="950">
                <a:solidFill>
                  <a:srgbClr val="94A3B8"/>
                </a:solidFill>
                <a:latin typeface="Malgun Gothic"/>
              </a:rPr>
              <a:t>매주 화요일 22:00 전교생 학부모에게 AI 종합 리포트 자동 발송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퇴원율 0% 달성: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학생의 슬럼프 조기 차단 및 학부모 록인(Lock-in) 완성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신규 입학 문의 폭증: </a:t>
            </a:r>
            <a:r>
              <a:rPr sz="950">
                <a:solidFill>
                  <a:srgbClr val="94A3B8"/>
                </a:solidFill>
                <a:latin typeface="Malgun Gothic"/>
              </a:rPr>
              <a:t>학부모 입소문과 인스타 학생증 공유로 자발적 바이럴 확산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59E0B"/>
                </a:solidFill>
                <a:latin typeface="Malgun Gothic"/>
              </a:defRPr>
            </a:pPr>
            <a:r>
              <a:t>지금, 귀 학원만의 독점 AI 관제 인프라를 구축하십시오.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  <a:latin typeface="Malgun Gothic"/>
              </a:defRPr>
            </a:pPr>
            <a:r>
              <a:t>학생의 퇴원율을 0%로 막고, 학부모의 신뢰를 100%로 끌어올리는 차세대 교육 OS</a:t>
            </a:r>
          </a:p>
          <a:p>
            <a:pPr>
              <a:spcBef>
                <a:spcPts val="1600"/>
              </a:spcBef>
              <a:defRPr sz="1200">
                <a:solidFill>
                  <a:srgbClr val="94A3B8"/>
                </a:solidFill>
                <a:latin typeface="Malgun Gothic"/>
              </a:defRPr>
            </a:pPr>
            <a:r>
              <a:t>PALIN OS는 단순한 학습 앱이 아닙니다. 원장님의 교육 철학과 입시 노하우를 완벽히 복제하여</a:t>
            </a:r>
            <a:br/>
            <a:r>
              <a:t>24시간 지치지 않고 일하는 '학원 전용 AI 수석 부원장'을 이식해 드리는 독점 솔루션입니다.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474720"/>
            <a:ext cx="9966960" cy="2377440"/>
          </a:xfrm>
          <a:prstGeom prst="roundRect">
            <a:avLst/>
          </a:prstGeom>
          <a:solidFill>
            <a:srgbClr val="121826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sz="1600" b="1">
                <a:solidFill>
                  <a:srgbClr val="F59E0B"/>
                </a:solidFill>
                <a:latin typeface="Malgun Gothic"/>
              </a:defRPr>
            </a:pPr>
            <a:r>
              <a:t>🏢 PALIN OS 가맹 및 B2B 시스템 도입 1:1 직통 문의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  <a:latin typeface="Malgun Gothic"/>
              </a:defRPr>
            </a:pPr>
            <a:r>
              <a:t>• 공식 제휴 이메일: 1286orbital21@gmail.com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문의 양식: [학원명 / 지역 / 원장님 성함 및 연락처 / 재원생 규모]를 적어 메일을 보내주시면 24시간 내 1:1 맞춤 제안서를 전달해 드립니다.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  <a:latin typeface="Malgun Gothic"/>
              </a:defRPr>
            </a:pPr>
            <a:r>
              <a:t>• 지역별 독점권 보장: 동일 상권(반경 2km 내) 선착순 1개 학원 독점 가맹 원칙 준수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