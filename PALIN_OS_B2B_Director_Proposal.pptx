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원장님, 하루에 상담과 행정에 몇 시간을 쓰십니까? 조교 인건비로는 매월 얼마가 나갑니까? 오늘 저는 원장님의 학원을 노동 집약적 가내수공업에서, 한계 비용이 제로에 수렴하는 하이테크 IT 비즈니스로 바꿔드릴 시스템을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학생이 늘면 돈은 벌지만, 원장님의 삶은 사라집니다. 조교를 뽑자니 인건비가 수익을 갉아먹고, 퀄리티는 떨어집니다. 이 딜레마를 해결하지 못하면 영원히 학원에 갇혀 일해야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어차피 강의는 1타 강사들의 인강이 가장 훌륭합니다. 학부모가 동네 학원에 기대하는 진짜 본질은 '내 아이를 책상에 묶어두고 관리해 주는 것'입니다. 우리는 이 관리를 100% 자동화했습니다.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PALIN OS는 단순한 프로그램이 아닙니다. 원장님의 행정, 상담, 통제를 완벽히 대신해 주는 3대 모듈로 구성된 종합 운영체제입니다.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학생이 학부모의 감시 UI를 보게 되면 거부감을 느끼고 이탈합니다. PALIN OS는 철저한 권한 분리를 통해 학생에겐 게임 같은 경쟁을, 학부모에겐 안심과 결제 창구를, 원장에겐 절대 권력을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더 이상 조교가 문 앞에서 출석 체크를 할 필요가 없습니다. 미납자에게 전화해서 아쉬운 소리 할 필요도 없습니다. 버튼 한 번이면 끝납니다.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수백 명의 학생이 새벽 2시에 우울하다며 질문을 던져도, 원장님의 철학이 담긴 AI가 1:1로 밀착 멘토링을 해줍니다. 퀄리티의 타협 없이 무한대로 스케일업이 가능해집니다.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우리는 본사의 영업 방식을 원장님께 강요하지 않습니다. 신뢰형 멘토 모드로 학부모를 완벽히 록인할지, 적극적인 특강 제안으로 매출을 올릴지는 오직 원장님의 자유의사에 달려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감시 카메라로 감시하면 반발하지만, 랭킹과 게임으로 만들면 학생들은 스스로 밤을 새워 공부합니다.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학생의 핑계와 타협하지 않습니다. 정해진 룰대로 시스템이 기계처럼 엄격하게 작동하여 학원의 기강을 완성합니다.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원장님이 정성껏 가르쳐 명문대에 보낸 제자가 다시 후배를 가르치고, 그 수익의 일부가 학원 통장에 매달 꽂힙니다. 학생을 잘 키울수록 학원의 수익이 영구적으로 늘어나는 생태계입니다.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이것은 기획서가 아닙니다. 현재 일원학원에서 실제로 구동되며 완벽한 성과를 내고 있는 실시간 라이브 데이터입니다.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강의실 평수와 강사의 시간에 얽매이는 비즈니스는 한계가 명확합니다. PALIN OS를 통해 관리 원생 수를 50명에서 500명으로 늘려도, 원장님의 행정 시간은 0분 증가합니다.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할인으로 유혹하지 않습니다. PALIN OS는 단 1원도 깎아주지 않는 최고급 엔터프라이즈 정가를 고수합니다. 대신 선배 클리닉 매칭을 통해 구독료의 몇 배를 벌어들이는 자산이 되어 드립니다. 반경 2km 내 선착순 1개 학원만 독점 가맹을 체결합니다.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백문이 불여일견입니다. 지금 스마트폰을 꺼내 QR 코드를 찍고, 원장 모드와 학생 모드를 오가며 이 시스템의 압도적인 통제력을 직접 경험해 보십시오.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🎙️ [발표자 스크립트]</a:t>
            </a:r>
          </a:p>
          <a:p>
            <a:r>
              <a:t>경쟁 학원이 먼저 도입하기 전에, 지금 원장님의 학원에 독점 AI 관제 인프라를 구축하십시오.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  <a:latin typeface="Malgun Gothic"/>
              </a:defRPr>
            </a:pPr>
            <a:r>
              <a:t>PALIN OS</a:t>
            </a:r>
          </a:p>
          <a:p>
            <a:pPr>
              <a:spcBef>
                <a:spcPts val="800"/>
              </a:spcBef>
              <a:defRPr sz="2200" b="1">
                <a:solidFill>
                  <a:srgbClr val="F8FAFC"/>
                </a:solidFill>
                <a:latin typeface="Malgun Gothic"/>
              </a:defRPr>
            </a:pPr>
            <a:r>
              <a:t>교육의 한계 비용을 '0'으로 만들다.</a:t>
            </a:r>
            <a:br/>
            <a:r>
              <a:t>1인 원장을 위한 궁극의 오토파일럿, PALIN OS.</a:t>
            </a:r>
          </a:p>
          <a:p>
            <a:pPr>
              <a:spcBef>
                <a:spcPts val="1200"/>
              </a:spcBef>
              <a:defRPr sz="1400">
                <a:solidFill>
                  <a:srgbClr val="94A3B8"/>
                </a:solidFill>
                <a:latin typeface="Malgun Gothic"/>
              </a:defRPr>
            </a:pPr>
            <a:r>
              <a:t>강사의 노동력을 파는 시대는 끝났습니다. 이제 '압도적인 통제 시스템'을 파십시오.</a:t>
            </a:r>
          </a:p>
          <a:p>
            <a:pPr>
              <a:spcBef>
                <a:spcPts val="2800"/>
              </a:spcBef>
              <a:defRPr sz="1100">
                <a:solidFill>
                  <a:srgbClr val="10B981"/>
                </a:solidFill>
                <a:latin typeface="Malgun Gothic"/>
              </a:defRPr>
            </a:pPr>
            <a:r>
              <a:t>🔒 B2B ENTERPRISE CONFIDENTIAL | 공식 도입 문의: 1286orbital21@gmail.com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02. The Problem: 우리는 왜 원생이 늘어날수록 더 불행해지는가?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⚠️ 인건비의 늪 (Labor Trap)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조교 의존도 심화: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원생 통제를 위해 비싼 조교를 계속 채용해야 하는 고정비 부담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잦은 퇴사와 관리 부실: </a:t>
            </a:r>
            <a:r>
              <a:rPr sz="950">
                <a:solidFill>
                  <a:srgbClr val="94A3B8"/>
                </a:solidFill>
                <a:latin typeface="Malgun Gothic"/>
              </a:rPr>
              <a:t>조교의 불성실한 출결/과제 검사로 인해 원장이 다시 검토하는 악순환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수익성 악화: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원생이 늘어도 인건비와 임대료가 정비례로 증가하여 실제 남는 순이익 정체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⚠️ 감정 노동의 한계 (Burnout)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끝없는 성적 불안: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매주 반복되는 학부모의 불안감 해소를 위한 심야 전화 상담 폭탄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수납 독촉의 굴욕: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수업료 결제일마다 반복되는 민망하고 어색한 수납 독촉 통화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원장의 에너지 고갈: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학생을 가르치고 연구해야 할 원장의 멘탈이 행정/상담에 완전히 소진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⚠️ 스케일업 불가 (Hard Cap)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물리적 시간 한계: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 1인의 24시간은 한정되어 있어 50~100명 이상 원생 확장 불가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시스템 부재: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원장의 입시 노하우와 관리가 매뉴얼화되지 않아 분점/확장 불가능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학원에 갇힌 삶: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원장이 하루라도 아프거나 자리를 비우면 학원 전체 운영이 마비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03. The Paradigm Shift: 해답은 '더 가르치는 것'이 아니라 '완벽하게 통제하는 것'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🏛️ 기존 학원 모델의 한계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핵심 가치: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강사의 강의력과 시간에 전적으로 의존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보고: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원장이 직접 매주 수동으로 전화 상담 및 불만 응대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학생 관리: </a:t>
            </a:r>
            <a:r>
              <a:rPr sz="950">
                <a:solidFill>
                  <a:srgbClr val="94A3B8"/>
                </a:solidFill>
                <a:latin typeface="Malgun Gothic"/>
              </a:rPr>
              <a:t>조교가 복도를 순찰하며 스마트폰 압수 및 수동 감시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원장의 역할: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강의, 상담, 수납, 청소를 도맡아 하는 '플레이어(Player)'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수익 구조: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원장의 노동 시간에 비례하는 선형적(Linear)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🚀 PALIN OS 도입 학원의 혁신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핵심 가치: </a:t>
            </a:r>
            <a:r>
              <a:rPr sz="950">
                <a:solidFill>
                  <a:srgbClr val="94A3B8"/>
                </a:solidFill>
                <a:latin typeface="Malgun Gothic"/>
              </a:rPr>
              <a:t>시스템의 압도적인 24시간 통제력과 실시간 데이터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보고: </a:t>
            </a:r>
            <a:r>
              <a:rPr sz="950">
                <a:solidFill>
                  <a:srgbClr val="94A3B8"/>
                </a:solidFill>
                <a:latin typeface="Malgun Gothic"/>
              </a:rPr>
              <a:t>AI가 매주 화요일 밤 10시 정밀 심층 리포트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학생 관리: </a:t>
            </a:r>
            <a:r>
              <a:rPr sz="950">
                <a:solidFill>
                  <a:srgbClr val="94A3B8"/>
                </a:solidFill>
                <a:latin typeface="Malgun Gothic"/>
              </a:rPr>
              <a:t>WiFi 감지 + 타이머 + 마이크로 랭킹전으로 자발적 몰입 강제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원장의 역할: </a:t>
            </a:r>
            <a:r>
              <a:rPr sz="950">
                <a:solidFill>
                  <a:srgbClr val="94A3B8"/>
                </a:solidFill>
                <a:latin typeface="Malgun Gothic"/>
              </a:rPr>
              <a:t>손가락 하나로 수백 명을 통제하는 '제국 설계자(God Mode)'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수익 구조: </a:t>
            </a:r>
            <a:r>
              <a:rPr sz="950">
                <a:solidFill>
                  <a:srgbClr val="94A3B8"/>
                </a:solidFill>
                <a:latin typeface="Malgun Gothic"/>
              </a:rPr>
              <a:t>한계 비용이 제로에 수렴하는 지수적(Exponential)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04. The Core Solution: 원장님의 '뇌'를 복제하여 24시간 돌아가는 SaaS 제국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⚙️ 1. 완전 무인 행정 (Auto-Admin)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무인 출결 &amp; 즉시 알림: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네트워크 감지 즉시 자동 출결 기록 및 부모님 통보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수납/미납 자동화: </a:t>
            </a:r>
            <a:r>
              <a:rPr sz="950">
                <a:solidFill>
                  <a:srgbClr val="94A3B8"/>
                </a:solidFill>
                <a:latin typeface="Malgun Gothic"/>
              </a:rPr>
              <a:t>미납자 원클릭 필터링 및 정중한 납부 알림 문자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주간 OMR 자동 마감: </a:t>
            </a:r>
            <a:r>
              <a:rPr sz="950">
                <a:solidFill>
                  <a:srgbClr val="94A3B8"/>
                </a:solidFill>
                <a:latin typeface="Malgun Gothic"/>
              </a:rPr>
              <a:t>일요일 자정 OMR 미제출 시 보증금 벌금 즉시 에스크로 삭감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조교 인건비 0원화: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학원의 모든 행정 프로세스가 기계처럼 24시간 자동 실행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🧠 2. AI 맞춤형 뇌 (AI Brain)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입시 철학 RAG 주입: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수험생활백서와 상담 대본을 벡터 DB로 동적 병합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24시간 1:1 상담 대행: </a:t>
            </a:r>
            <a:r>
              <a:rPr sz="950">
                <a:solidFill>
                  <a:srgbClr val="94A3B8"/>
                </a:solidFill>
                <a:latin typeface="Malgun Gothic"/>
              </a:rPr>
              <a:t>새벽 2시에도 원장님의 어투와 팩트폭격으로 학생 멘탈 케어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페르소나 스위칭: </a:t>
            </a:r>
            <a:r>
              <a:rPr sz="950">
                <a:solidFill>
                  <a:srgbClr val="94A3B8"/>
                </a:solidFill>
                <a:latin typeface="Malgun Gothic"/>
              </a:rPr>
              <a:t>신뢰형 멘토 모드 vs 전략적 특강 제안 모드 자유 선택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상담 리소스 90% 절감: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원장님은 특급 심층 상담에만 집중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🔒 3. 심리적 락인 (Psychological Lock-in)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Strava식 랭킹전: </a:t>
            </a:r>
            <a:r>
              <a:rPr sz="950">
                <a:solidFill>
                  <a:srgbClr val="94A3B8"/>
                </a:solidFill>
                <a:latin typeface="Malgun Gothic"/>
              </a:rPr>
              <a:t>내 동네/고교 친구들과의 실시간 자습 순위 경쟁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Beeminder 보증금: </a:t>
            </a:r>
            <a:r>
              <a:rPr sz="950">
                <a:solidFill>
                  <a:srgbClr val="94A3B8"/>
                </a:solidFill>
                <a:latin typeface="Malgun Gothic"/>
              </a:rPr>
              <a:t>기상/취침 미션 실패 시 1,000원~5,000원 벌금 에스크로 차감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철저한 권한 격리 (RBAC):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학생/학부모/원장이 각자 최적화된 화면만 열람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퇴원율 0% 수렴: </a:t>
            </a:r>
            <a:r>
              <a:rPr sz="950">
                <a:solidFill>
                  <a:srgbClr val="94A3B8"/>
                </a:solidFill>
                <a:latin typeface="Malgun Gothic"/>
              </a:rPr>
              <a:t>한 번 들어오면 수능 날까지 빠져나갈 수 없는 강력한 몰입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05. Architecture: 철저한 3자 역할 기반 권한 격리 (RBAC)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🧑‍🎓 수험생 모드 (몰입/수감자)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통제 UI만 노출: </a:t>
            </a:r>
            <a:r>
              <a:rPr sz="950">
                <a:solidFill>
                  <a:srgbClr val="94A3B8"/>
                </a:solidFill>
                <a:latin typeface="Malgun Gothic"/>
              </a:rPr>
              <a:t>자습 타이머, 동네/학교 랭킹, 주간 미션, D-Day 학생증만 사용 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관리자 영역 원천 차단: </a:t>
            </a:r>
            <a:r>
              <a:rPr sz="950">
                <a:solidFill>
                  <a:srgbClr val="94A3B8"/>
                </a:solidFill>
                <a:latin typeface="Malgun Gothic"/>
              </a:rPr>
              <a:t>학부모의 감시 설정이나 관리자 기능에는 일절 접근 불가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게임 같은 몰입감: </a:t>
            </a:r>
            <a:r>
              <a:rPr sz="950">
                <a:solidFill>
                  <a:srgbClr val="94A3B8"/>
                </a:solidFill>
                <a:latin typeface="Malgun Gothic"/>
              </a:rPr>
              <a:t>경쟁심과 성취감을 자극하여 공부를 게임처럼 플레이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👨‍👩‍👧 학부모 모드 (안심/스폰서)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조회 (Read-only): </a:t>
            </a:r>
            <a:r>
              <a:rPr sz="950">
                <a:solidFill>
                  <a:srgbClr val="94A3B8"/>
                </a:solidFill>
                <a:latin typeface="Malgun Gothic"/>
              </a:rPr>
              <a:t>자녀의 자습시간, 출결 현황, 일일 미션 달성률을 실시간 모니터링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간섭 불가 &amp; 안심 극대화: </a:t>
            </a:r>
            <a:r>
              <a:rPr sz="950">
                <a:solidFill>
                  <a:srgbClr val="94A3B8"/>
                </a:solidFill>
                <a:latin typeface="Malgun Gothic"/>
              </a:rPr>
              <a:t>자녀의 학습 흐름을 방해하지 않고 묵묵히 응원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원클릭 금융 지원: </a:t>
            </a:r>
            <a:r>
              <a:rPr sz="950">
                <a:solidFill>
                  <a:srgbClr val="94A3B8"/>
                </a:solidFill>
                <a:latin typeface="Malgun Gothic"/>
              </a:rPr>
              <a:t>교재비, 모의고사 리포트, 학원비 결제 창구 일원화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🏫 학원장 모드 (갓 모드 관제실)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B2B 전용 중앙 ERP: </a:t>
            </a:r>
            <a:r>
              <a:rPr sz="950">
                <a:solidFill>
                  <a:srgbClr val="94A3B8"/>
                </a:solidFill>
                <a:latin typeface="Malgun Gothic"/>
              </a:rPr>
              <a:t>전체 원생의 실시간 위치, 타이머, 이탈 상태 실시간 전지적 조망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원클릭 절대 통제권: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 직통 레드카드 발부, 보증금 차감, 긴급 SMS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전산 마스터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전용 로고 및 가맹 코드 기반 독립 폐쇄망 운영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06. Feature 1: 손가락 하나로 수백 명을 통제하는 마스터 관제실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📡 무설치 0.1초 네트워크 출결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하드웨어 설치 제로: </a:t>
            </a:r>
            <a:r>
              <a:rPr sz="950">
                <a:solidFill>
                  <a:srgbClr val="94A3B8"/>
                </a:solidFill>
                <a:latin typeface="Malgun Gothic"/>
              </a:rPr>
              <a:t>비싼 비콘이나 지문인식기 없이 학원 WiFi/네트워크 대역 감지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0.1초 즉시 체크인: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문을 열고 들어오는 순간 관제실에 등원 기록 자동 반영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지각/결석 자동 격발: </a:t>
            </a:r>
            <a:r>
              <a:rPr sz="950">
                <a:solidFill>
                  <a:srgbClr val="94A3B8"/>
                </a:solidFill>
                <a:latin typeface="Malgun Gothic"/>
              </a:rPr>
              <a:t>수업 시작 시간까지 미등원 시 학부모 안심 SMS 즉시 발송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💳 1-Click 미납금 관리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미납 원생 실시간 필터링: </a:t>
            </a:r>
            <a:r>
              <a:rPr sz="950">
                <a:solidFill>
                  <a:srgbClr val="94A3B8"/>
                </a:solidFill>
                <a:latin typeface="Malgun Gothic"/>
              </a:rPr>
              <a:t>수강료/교재비 미납자 목록을 1초 만에 색출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원클릭 카톡 안내 발송: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원장이 직접 아쉬운 소리 할 필요 없이 정중한 수납 안내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미납 상태 자동 동기화: </a:t>
            </a:r>
            <a:r>
              <a:rPr sz="950">
                <a:solidFill>
                  <a:srgbClr val="94A3B8"/>
                </a:solidFill>
                <a:latin typeface="Malgun Gothic"/>
              </a:rPr>
              <a:t>결제 완료 즉시 관제실 및 학부모 앱에서 정상 처리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🟥 원클릭 레드카드 발송기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자습 태도 불량 즉시 제재: </a:t>
            </a:r>
            <a:r>
              <a:rPr sz="950">
                <a:solidFill>
                  <a:srgbClr val="94A3B8"/>
                </a:solidFill>
                <a:latin typeface="Malgun Gothic"/>
              </a:rPr>
              <a:t>졸음, 잡담, 스마트폰 몰래 사용 적발 시 버튼 하나로 경고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성실 보증금 벌금 차감: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 에스크로 보증금에서 1,000원~5,000원 즉시 삭감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통보 동시 실행: </a:t>
            </a:r>
            <a:r>
              <a:rPr sz="950">
                <a:solidFill>
                  <a:srgbClr val="94A3B8"/>
                </a:solidFill>
                <a:latin typeface="Malgun Gothic"/>
              </a:rPr>
              <a:t>부모님께 징계 사유와 타임스탬프가 자동 문자로 전송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07. Feature 2: 내가 자는 동안에도 내 분신이 1:1 상담을 진행하는 AI 뇌 이식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📚 1. 원장님 입시 철학 &amp; 수험생활백서 RAG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자체 데이터 무제한 주입: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원장님의 강의 교재, 커리큘럼, 입시 노하우, 상담 대본 PDF/TXT 업로드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동적 임베딩: </a:t>
            </a:r>
            <a:r>
              <a:rPr sz="950">
                <a:solidFill>
                  <a:srgbClr val="94A3B8"/>
                </a:solidFill>
                <a:latin typeface="Malgun Gothic"/>
              </a:rPr>
              <a:t>Gemini AI가 원장님의 지식을 학습하여 학원 전용 AI 뇌로 완벽 동기화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단순 챗봇과의 차별화: </a:t>
            </a:r>
            <a:r>
              <a:rPr sz="950">
                <a:solidFill>
                  <a:srgbClr val="94A3B8"/>
                </a:solidFill>
                <a:latin typeface="Malgun Gothic"/>
              </a:rPr>
              <a:t>일반 범용 AI와 달리 '우리 학원만의 커리큘럼과 원장님 방침'으로만 완벽하게 응답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지식의 자산화: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강사가 퇴사해도 학원의 핵심 입시 노하우와 상담 퀄리티는 영구 보존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💬 2. 원장 페르소나 팩트폭격 &amp; 멘탈 케어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24시간 1:1 밀착 코칭: </a:t>
            </a:r>
            <a:r>
              <a:rPr sz="950">
                <a:solidFill>
                  <a:srgbClr val="94A3B8"/>
                </a:solidFill>
                <a:latin typeface="Malgun Gothic"/>
              </a:rPr>
              <a:t>새벽 2시에 학생이 슬럼프 고민을 토로해도 원장님의 어투로 즉각 처방전 제시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냉혹한 팩트폭격: </a:t>
            </a:r>
            <a:r>
              <a:rPr sz="950">
                <a:solidFill>
                  <a:srgbClr val="94A3B8"/>
                </a:solidFill>
                <a:latin typeface="Malgun Gothic"/>
              </a:rPr>
              <a:t>달콤한 위로 대신 목표 대학 갭 분석을 바탕으로 한 현실적 행동 강령 제시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시스템 프롬프트 커스텀: </a:t>
            </a:r>
            <a:r>
              <a:rPr sz="950">
                <a:solidFill>
                  <a:srgbClr val="94A3B8"/>
                </a:solidFill>
                <a:latin typeface="Malgun Gothic"/>
              </a:rPr>
              <a:t>스파르타식 엄격한 원장, 따뜻한 멘토형 원장 등 학원 성향에 맞춰 성격 자유 세팅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무한 스케일업: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원생이 500명으로 늘어나도 1:1 상담 퀄리티의 타협 없이 24시간 완벽 커버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08. Feature 3: 원장님의 영업 철학에 맞춘 100% 자율 학부모 AI 페르소나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🛡️ 모드 A: 신뢰형 멘토 (Anti-Marketing)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결제를 만류하는 역설적 진정성: </a:t>
            </a:r>
            <a:r>
              <a:rPr sz="950">
                <a:solidFill>
                  <a:srgbClr val="94A3B8"/>
                </a:solidFill>
                <a:latin typeface="Malgun Gothic"/>
              </a:rPr>
              <a:t>불안해하는 학부모가 추가 결제를 문의할 때, '지금은 돈을 쓸 때가 아니라 기본 복습 밀도를 높일 때입니다' 단호히 권고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학부모의 절대적 신뢰 획득: </a:t>
            </a:r>
            <a:r>
              <a:rPr sz="950">
                <a:solidFill>
                  <a:srgbClr val="94A3B8"/>
                </a:solidFill>
                <a:latin typeface="Malgun Gothic"/>
              </a:rPr>
              <a:t>상업적이지 않고 아이를 진심으로 위한다는 확신을 주어 재등록률 100% 달성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원장의 품격 상승: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학원과 원장님의 브랜드를 지역 최고 수준의 교육 전문가로 각인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📈 모드 B: 전략적 제안형 (Active-Sales)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취약점 진단 기반 자연스러운 제안: </a:t>
            </a:r>
            <a:r>
              <a:rPr sz="950">
                <a:solidFill>
                  <a:srgbClr val="94A3B8"/>
                </a:solidFill>
                <a:latin typeface="Malgun Gothic"/>
              </a:rPr>
              <a:t>모의고사 성적 하락 시 해당 단원 클리닉 및 방학 특강을 논리적으로 추천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학원 매출 극대화: </a:t>
            </a:r>
            <a:r>
              <a:rPr sz="950">
                <a:solidFill>
                  <a:srgbClr val="94A3B8"/>
                </a:solidFill>
                <a:latin typeface="Malgun Gothic"/>
              </a:rPr>
              <a:t>학부모의 니즈가 가장 높은 시점에 최적의 맞춤형 커리큘럼 안내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관제실에서 1초 원클릭 스위칭: </a:t>
            </a:r>
            <a:r>
              <a:rPr sz="950">
                <a:solidFill>
                  <a:srgbClr val="94A3B8"/>
                </a:solidFill>
                <a:latin typeface="Malgun Gothic"/>
              </a:rPr>
              <a:t>본사의 강요 없이 원장님의 사업 방식에 따라 AI 성향을 100% 자유롭게 세팅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09. Feature 4: 강압적 감시가 아닌, 자발적 중독을 설계하는 게이미피케이션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🏆 지역/고교 마이크로 랭킹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국지적 자존심 경쟁: </a:t>
            </a:r>
            <a:r>
              <a:rPr sz="950">
                <a:solidFill>
                  <a:srgbClr val="94A3B8"/>
                </a:solidFill>
                <a:latin typeface="Malgun Gothic"/>
              </a:rPr>
              <a:t>'분당구 1위', '낙생고 2위' 등 실시간 동네/학교 순위 노출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실시간 띠배너 브로드캐스트: </a:t>
            </a:r>
            <a:r>
              <a:rPr sz="950">
                <a:solidFill>
                  <a:srgbClr val="94A3B8"/>
                </a:solidFill>
                <a:latin typeface="Malgun Gothic"/>
              </a:rPr>
              <a:t>1위 탈환 시 전교생 화면 상단에 골드 띠배너 즉시 공지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자발적 자습 시간 폭증: </a:t>
            </a:r>
            <a:r>
              <a:rPr sz="950">
                <a:solidFill>
                  <a:srgbClr val="94A3B8"/>
                </a:solidFill>
                <a:latin typeface="Malgun Gothic"/>
              </a:rPr>
              <a:t>친구를 이기기 위해 밤늦게까지 타이머를 켜두는 선의의 경쟁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🔄 주간 초기화 룰 (Reset)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매주 일요일 자정 리셋: </a:t>
            </a:r>
            <a:r>
              <a:rPr sz="950">
                <a:solidFill>
                  <a:srgbClr val="94A3B8"/>
                </a:solidFill>
                <a:latin typeface="Malgun Gothic"/>
              </a:rPr>
              <a:t>모든 랭킹 점수가 일요일 자정에 0으로 초기화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새로운 희망 부여: </a:t>
            </a:r>
            <a:r>
              <a:rPr sz="950">
                <a:solidFill>
                  <a:srgbClr val="94A3B8"/>
                </a:solidFill>
                <a:latin typeface="Malgun Gothic"/>
              </a:rPr>
              <a:t>이번 주에 뒤처진 학생도 다음 주 월요일 0시부터 다시 1등 도전 가능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이탈 방지: </a:t>
            </a:r>
            <a:r>
              <a:rPr sz="950">
                <a:solidFill>
                  <a:srgbClr val="94A3B8"/>
                </a:solidFill>
                <a:latin typeface="Malgun Gothic"/>
              </a:rPr>
              <a:t>포기하지 않고 매주 월요일 아침 앱에 재접속하도록 유도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👑 상위 1% VIP 라운지 강등제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가차 없는 권한 박탈: </a:t>
            </a:r>
            <a:r>
              <a:rPr sz="950">
                <a:solidFill>
                  <a:srgbClr val="94A3B8"/>
                </a:solidFill>
                <a:latin typeface="Malgun Gothic"/>
              </a:rPr>
              <a:t>주간 자습 상위 1% 미달 시 즉시 VIP 블랙 라운지에서 강제 퇴장(Kick-out)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상실의 공포 (FOMO): </a:t>
            </a:r>
            <a:r>
              <a:rPr sz="950">
                <a:solidFill>
                  <a:srgbClr val="94A3B8"/>
                </a:solidFill>
                <a:latin typeface="Malgun Gothic"/>
              </a:rPr>
              <a:t>VIP 자격을 유지하기 위해 자습량을 극한으로 유지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의치한약수 멘토링: </a:t>
            </a:r>
            <a:r>
              <a:rPr sz="950">
                <a:solidFill>
                  <a:srgbClr val="94A3B8"/>
                </a:solidFill>
                <a:latin typeface="Malgun Gothic"/>
              </a:rPr>
              <a:t>상위 1% 학생에게만 주어지는 특권으로 도전 의식 고취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10. Feature 5: 핑계를 원천 봉쇄하는 기계적인 엄격함의 오토파일럿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📝 주간 OMR 일요일 자정 마감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타협 없는 자동 마감: </a:t>
            </a:r>
            <a:r>
              <a:rPr sz="950">
                <a:solidFill>
                  <a:srgbClr val="94A3B8"/>
                </a:solidFill>
                <a:latin typeface="Malgun Gothic"/>
              </a:rPr>
              <a:t>일요일 23:59까지 OMR 미제출 시 예외 없이 자동 차단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보증금 패널티 즉시 차감: </a:t>
            </a:r>
            <a:r>
              <a:rPr sz="950">
                <a:solidFill>
                  <a:srgbClr val="94A3B8"/>
                </a:solidFill>
                <a:latin typeface="Malgun Gothic"/>
              </a:rPr>
              <a:t>과제 미제출에 따른 성실 보증금 벌금 에스크로 자동 삭감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자동 통보: </a:t>
            </a:r>
            <a:r>
              <a:rPr sz="950">
                <a:solidFill>
                  <a:srgbClr val="94A3B8"/>
                </a:solidFill>
                <a:latin typeface="Malgun Gothic"/>
              </a:rPr>
              <a:t>과제 미제출 사실이 부모님께 즉시 알림톡으로 발송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⏱️ VOD 168시간 락 &amp; 안티치트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7일 후 시청 원천 차단: </a:t>
            </a:r>
            <a:r>
              <a:rPr sz="950">
                <a:solidFill>
                  <a:srgbClr val="94A3B8"/>
                </a:solidFill>
                <a:latin typeface="Malgun Gothic"/>
              </a:rPr>
              <a:t>강의 권한 부여 후 168시간(7일) 경과 시 영상 자동 락(Lock)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배속 롤백 안티치트: </a:t>
            </a:r>
            <a:r>
              <a:rPr sz="950">
                <a:solidFill>
                  <a:srgbClr val="94A3B8"/>
                </a:solidFill>
                <a:latin typeface="Malgun Gothic"/>
              </a:rPr>
              <a:t>2배속 이상 날림 수강 시 시청 시간 미인정 및 경고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초단위 완강률 추적: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학생이 진짜로 집중해서 들었는지 초단위 타임라인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📊 매주 화요일 22:00 AI 리포트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Gemini AI 종합 진단: </a:t>
            </a:r>
            <a:r>
              <a:rPr sz="950">
                <a:solidFill>
                  <a:srgbClr val="94A3B8"/>
                </a:solidFill>
                <a:latin typeface="Malgun Gothic"/>
              </a:rPr>
              <a:t>한 주간의 자습시간, 출결, 미션 성공률을 분석해 300자 카톡 대본 생성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전교생 일괄 발송: </a:t>
            </a:r>
            <a:r>
              <a:rPr sz="950">
                <a:solidFill>
                  <a:srgbClr val="94A3B8"/>
                </a:solidFill>
                <a:latin typeface="Malgun Gothic"/>
              </a:rPr>
              <a:t>화요일 밤 학부모 스마트폰으로 고품격 리포트 자동 발송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수납 촉구 링크 연동: </a:t>
            </a:r>
            <a:r>
              <a:rPr sz="950">
                <a:solidFill>
                  <a:srgbClr val="94A3B8"/>
                </a:solidFill>
                <a:latin typeface="Malgun Gothic"/>
              </a:rPr>
              <a:t>미납자의 경우 리포트 하단에 결제 안내 정중히 포함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11. Business Model: 제자를 잘 키울수록 학원의 영구적 부가 수익이 되는 선순환 생태계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🎓 1. 학원 출신 선배 ➔ 후배 1:1 클리닉 (8:1:1)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원장이 키운 제자가 학원의 자산: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출신 의대/SKY 합격생을 학원 전용 튜터로 등록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후배 재원생의 압도적 신뢰: </a:t>
            </a:r>
            <a:r>
              <a:rPr sz="950">
                <a:solidFill>
                  <a:srgbClr val="94A3B8"/>
                </a:solidFill>
                <a:latin typeface="Malgun Gothic"/>
              </a:rPr>
              <a:t>우리 학원에서 공부해 명문대 간 검증된 선배에게 1:1 킬러문항 질의응답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수익 분배 구조: </a:t>
            </a:r>
            <a:r>
              <a:rPr sz="950">
                <a:solidFill>
                  <a:srgbClr val="94A3B8"/>
                </a:solidFill>
                <a:latin typeface="Malgun Gothic"/>
              </a:rPr>
              <a:t>선배 튜터 80% : 학원장 10% (브랜드 보증료) : 본사 10% (플랫폼 운영)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영구적 Cash Cow: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100명 중 30명 이용 시 월 60만 원 순수익 창출 (구독료 상쇄)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💎 2. AI 입시 심층 리포트 &amp; 캐시 마이크로 과금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심층 리포트 (16,900원~34,900원): </a:t>
            </a:r>
            <a:r>
              <a:rPr sz="950">
                <a:solidFill>
                  <a:srgbClr val="94A3B8"/>
                </a:solidFill>
                <a:latin typeface="Malgun Gothic"/>
              </a:rPr>
              <a:t>모의고사 직후 학부모 불안감이 극에 달했을 때 원클릭 정밀 진단서 발급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AI 대화 토큰 충전 (4,900원): </a:t>
            </a:r>
            <a:r>
              <a:rPr sz="950">
                <a:solidFill>
                  <a:srgbClr val="94A3B8"/>
                </a:solidFill>
                <a:latin typeface="Malgun Gothic"/>
              </a:rPr>
              <a:t>기본 무료 질문 횟수 소진 시 추가 충전을 통한 부가 수익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비용에서 수익 센터로 전환: </a:t>
            </a:r>
            <a:r>
              <a:rPr sz="950">
                <a:solidFill>
                  <a:srgbClr val="94A3B8"/>
                </a:solidFill>
                <a:latin typeface="Malgun Gothic"/>
              </a:rPr>
              <a:t>학원 관리 소프트웨어가 매달 돈을 벌어다 주는 강력한 Profit Center로 탈바꿈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12. Case Study: 이미 증명된 일원학원 Beta의 압도적인 운영 데이터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4688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43F5E"/>
                </a:solidFill>
                <a:latin typeface="Malgun Gothic"/>
              </a:defRPr>
            </a:pPr>
            <a:r>
              <a:t>📉 100% 감소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조교 인건비 전액 절감: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150만~200만 원 나가던 조교 인건비가 0원으로 축소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1인 완벽 통제: </a:t>
            </a:r>
            <a:r>
              <a:rPr sz="950">
                <a:solidFill>
                  <a:srgbClr val="94A3B8"/>
                </a:solidFill>
                <a:latin typeface="Malgun Gothic"/>
              </a:rPr>
              <a:t>100명 이상의 재원생을 원장 1인이 관제실에서 손쉽게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24688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📈 +34.2% 증가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평균 순공 자습시간: </a:t>
            </a:r>
            <a:r>
              <a:rPr sz="950">
                <a:solidFill>
                  <a:srgbClr val="94A3B8"/>
                </a:solidFill>
                <a:latin typeface="Malgun Gothic"/>
              </a:rPr>
              <a:t>마이크로 랭킹전과 보증금 에스크로 도입 후 일일 자습시간 34.2% 급증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주말 자습실 만석: </a:t>
            </a:r>
            <a:r>
              <a:rPr sz="950">
                <a:solidFill>
                  <a:srgbClr val="94A3B8"/>
                </a:solidFill>
                <a:latin typeface="Malgun Gothic"/>
              </a:rPr>
              <a:t>자발적 면학 분위기 형성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371600"/>
            <a:ext cx="24688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📉 90% 이상 소멸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전화 클레임: </a:t>
            </a:r>
            <a:r>
              <a:rPr sz="950">
                <a:solidFill>
                  <a:srgbClr val="94A3B8"/>
                </a:solidFill>
                <a:latin typeface="Malgun Gothic"/>
              </a:rPr>
              <a:t>매일 밤 22:00 알림톡과 실시간 대시보드 제공으로 불안감 100% 해소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상담 스트레스 해소: </a:t>
            </a:r>
            <a:r>
              <a:rPr sz="950">
                <a:solidFill>
                  <a:srgbClr val="94A3B8"/>
                </a:solidFill>
                <a:latin typeface="Malgun Gothic"/>
              </a:rPr>
              <a:t>수납 및 성적 문의 전화 90% 이상 급감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371600"/>
            <a:ext cx="246888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🛡️ 0% 수렴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재원생 중도 퇴원율: </a:t>
            </a:r>
            <a:r>
              <a:rPr sz="950">
                <a:solidFill>
                  <a:srgbClr val="94A3B8"/>
                </a:solidFill>
                <a:latin typeface="Malgun Gothic"/>
              </a:rPr>
              <a:t>D-Day 합격예측과 선배 클리닉 락인 효과로 퇴원율 0% 달성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재등록률 99.4%: </a:t>
            </a:r>
            <a:r>
              <a:rPr sz="950">
                <a:solidFill>
                  <a:srgbClr val="94A3B8"/>
                </a:solidFill>
                <a:latin typeface="Malgun Gothic"/>
              </a:rPr>
              <a:t>주변 학원으로의 이탈을 완벽 차단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13. The Vision: 원장님의 공간(Space)을 제국(Empire)으로 확장하십시오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🏢 1. 공간과 시간의 한계를 돌파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강의실 평수의 한계 극복: </a:t>
            </a:r>
            <a:r>
              <a:rPr sz="950">
                <a:solidFill>
                  <a:srgbClr val="94A3B8"/>
                </a:solidFill>
                <a:latin typeface="Malgun Gothic"/>
              </a:rPr>
              <a:t>오프라인 좌석 수에 얽매이지 않고 온라인 관리형 원생 무한 확장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노동 시간의 탈피: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원생 수가 50명에서 500명으로 늘어나도 원장님의 행정 시간은 '0분' 증가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분점 및 프랜차이즈화: </a:t>
            </a:r>
            <a:r>
              <a:rPr sz="950">
                <a:solidFill>
                  <a:srgbClr val="94A3B8"/>
                </a:solidFill>
                <a:latin typeface="Malgun Gothic"/>
              </a:rPr>
              <a:t>동일한 시스템과 AI 뇌를 그대로 복제하여 2호점, 3호점 즉시 개설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👑 2. 제국 설계자로의 완벽한 전환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잡무에서 완전 해방: </a:t>
            </a:r>
            <a:r>
              <a:rPr sz="950">
                <a:solidFill>
                  <a:srgbClr val="94A3B8"/>
                </a:solidFill>
                <a:latin typeface="Malgun Gothic"/>
              </a:rPr>
              <a:t>출결 체크, 성적표 입력, 수납 독촉 등 3D 행정 업무 100% 소멸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고부가가치 영역 집중: </a:t>
            </a:r>
            <a:r>
              <a:rPr sz="950">
                <a:solidFill>
                  <a:srgbClr val="94A3B8"/>
                </a:solidFill>
                <a:latin typeface="Malgun Gothic"/>
              </a:rPr>
              <a:t>오직 VIP 심층 입시 상담과 학원 사업 확장에만 원장의 에너지 투입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지역 1위 절대 권력: </a:t>
            </a:r>
            <a:r>
              <a:rPr sz="950">
                <a:solidFill>
                  <a:srgbClr val="94A3B8"/>
                </a:solidFill>
                <a:latin typeface="Malgun Gothic"/>
              </a:rPr>
              <a:t>경쟁 학원이 따라올 수 없는 최첨단 AI 시스템으로 지역 패권 장악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14. Pricing: 타협 없는 최고급 정가 정책 &amp; 반경 2km 권역 독점권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94A3B8"/>
                </a:solidFill>
                <a:latin typeface="Malgun Gothic"/>
              </a:defRPr>
            </a:pPr>
            <a:r>
              <a:t>🥉 Tier 1: 베이직 (단과)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299,000원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최대 50명 한정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초기 세팅비: </a:t>
            </a:r>
            <a:r>
              <a:rPr sz="950">
                <a:solidFill>
                  <a:srgbClr val="94A3B8"/>
                </a:solidFill>
                <a:latin typeface="Malgun Gothic"/>
              </a:rPr>
              <a:t>1,000,000원 (최초 1회 DB 세팅)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핵심 기능: </a:t>
            </a:r>
            <a:r>
              <a:rPr sz="950">
                <a:solidFill>
                  <a:srgbClr val="94A3B8"/>
                </a:solidFill>
                <a:latin typeface="Malgun Gothic"/>
              </a:rPr>
              <a:t>실시간 관제실 + 기본 출결/수납/OMR ERP + 안심 알림톡 기본 충전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🥈 Tier 2: 프로 (성장형)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599,000원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최대 100명 한정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초기 세팅비: </a:t>
            </a:r>
            <a:r>
              <a:rPr sz="950">
                <a:solidFill>
                  <a:srgbClr val="94A3B8"/>
                </a:solidFill>
                <a:latin typeface="Malgun Gothic"/>
              </a:rPr>
              <a:t>1,000,000원 (최초 1회 DB 세팅)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핵심 기능: </a:t>
            </a:r>
            <a:r>
              <a:rPr sz="950">
                <a:solidFill>
                  <a:srgbClr val="94A3B8"/>
                </a:solidFill>
                <a:latin typeface="Malgun Gothic"/>
              </a:rPr>
              <a:t>원장님 전용 AI 뇌 이식(RAG) + 화요일 AI 주간 리포트 + 레드카드 에스크로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2918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🥇 Tier 3: 엔터프라이즈 (대형)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월 구독료: </a:t>
            </a:r>
            <a:r>
              <a:rPr sz="950">
                <a:solidFill>
                  <a:srgbClr val="94A3B8"/>
                </a:solidFill>
                <a:latin typeface="Malgun Gothic"/>
              </a:rPr>
              <a:t>월 999,000원 (VAT 별도)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수용 정원: </a:t>
            </a:r>
            <a:r>
              <a:rPr sz="950">
                <a:solidFill>
                  <a:srgbClr val="94A3B8"/>
                </a:solidFill>
                <a:latin typeface="Malgun Gothic"/>
              </a:rPr>
              <a:t>재원생 무제한 (Unlimited)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초기 세팅비: </a:t>
            </a:r>
            <a:r>
              <a:rPr sz="950">
                <a:solidFill>
                  <a:srgbClr val="94A3B8"/>
                </a:solidFill>
                <a:latin typeface="Malgun Gothic"/>
              </a:rPr>
              <a:t>1,000,000원 (화이트라벨링 포함)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핵심 기능: </a:t>
            </a:r>
            <a:r>
              <a:rPr sz="950">
                <a:solidFill>
                  <a:srgbClr val="94A3B8"/>
                </a:solidFill>
                <a:latin typeface="Malgun Gothic"/>
              </a:rPr>
              <a:t>100% 화이트라벨링 + 전용 AI 봇 + 선배 클리닉 수수료 쉐어 (Profit Center)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PALIN OS ENTERPRISE B2B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Malgun Gothic"/>
              </a:defRPr>
            </a:pPr>
            <a:r>
              <a:t>Slide 15. Q&amp;A &amp; Live Demo: 백문이 불여일견, 원장님의 스마트폰으로 지금 체험하십시오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06B6D4"/>
                </a:solidFill>
                <a:latin typeface="Malgun Gothic"/>
              </a:defRPr>
            </a:pPr>
            <a:r>
              <a:t>📱 1. 실시간 3-Way 롤 시뮬레이터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QR 코드 즉시 접속: </a:t>
            </a:r>
            <a:r>
              <a:rPr sz="950">
                <a:solidFill>
                  <a:srgbClr val="94A3B8"/>
                </a:solidFill>
                <a:latin typeface="Malgun Gothic"/>
              </a:rPr>
              <a:t>별도 앱 설치 없이 스마트폰 카메라로 QR 코드를 스캔하여 즉시 접속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원장 모드 (God Mode): </a:t>
            </a:r>
            <a:r>
              <a:rPr sz="950">
                <a:solidFill>
                  <a:srgbClr val="94A3B8"/>
                </a:solidFill>
                <a:latin typeface="Malgun Gothic"/>
              </a:rPr>
              <a:t>관제실에서 실시간 출결 현황을 보고 원클릭 레드카드 발부 체험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학생 모드 (수감자): </a:t>
            </a:r>
            <a:r>
              <a:rPr sz="950">
                <a:solidFill>
                  <a:srgbClr val="94A3B8"/>
                </a:solidFill>
                <a:latin typeface="Malgun Gothic"/>
              </a:rPr>
              <a:t>레드카드가 발부되는 순간 학생 화면에 경고창이 뜨고 타이머가 정지되는 통제력 체감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학부모 모드 (스폰서): </a:t>
            </a:r>
            <a:r>
              <a:rPr sz="950">
                <a:solidFill>
                  <a:srgbClr val="94A3B8"/>
                </a:solidFill>
                <a:latin typeface="Malgun Gothic"/>
              </a:rPr>
              <a:t>자녀의 자습 데이터와 AI 주간 리포트가 어떻게 보이는지 실시간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493776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64592"/>
          <a:lstStyle/>
          <a:p>
            <a:pPr algn="ctr">
              <a:spcAft>
                <a:spcPts val="700"/>
              </a:spcAft>
              <a:defRPr sz="1300" b="1">
                <a:solidFill>
                  <a:srgbClr val="6366F1"/>
                </a:solidFill>
                <a:latin typeface="Malgun Gothic"/>
              </a:defRPr>
            </a:pPr>
            <a:r>
              <a:t>❓ 2. 현장 질의응답 (FAQ)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Q. 기존 학원 프로그램과 병행 가능한가요?: </a:t>
            </a:r>
            <a:r>
              <a:rPr sz="950">
                <a:solidFill>
                  <a:srgbClr val="94A3B8"/>
                </a:solidFill>
                <a:latin typeface="Malgun Gothic"/>
              </a:rPr>
              <a:t>A. 네, 엑셀 1초 업로드로 기존 데이터와 완벽히 호환됩니다.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Q. 세팅에 시간이 오래 걸리나요?: </a:t>
            </a:r>
            <a:r>
              <a:rPr sz="950">
                <a:solidFill>
                  <a:srgbClr val="94A3B8"/>
                </a:solidFill>
                <a:latin typeface="Malgun Gothic"/>
              </a:rPr>
              <a:t>A. 단 3일이면 학원 전용 브랜딩과 AI 뇌 이식 세팅이 완료됩니다.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F8FAFC"/>
                </a:solidFill>
                <a:latin typeface="Malgun Gothic"/>
              </a:rPr>
              <a:t>• Q. 강사들이 반발하지 않나요?: </a:t>
            </a:r>
            <a:r>
              <a:rPr sz="950">
                <a:solidFill>
                  <a:srgbClr val="94A3B8"/>
                </a:solidFill>
                <a:latin typeface="Malgun Gothic"/>
              </a:rPr>
              <a:t>A. 행정 업무가 90% 사라지므로 강사들이 가장 환호합니다.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Malgun Gothic"/>
              </a:defRPr>
            </a:pPr>
            <a:r>
              <a:t>지금 귀 학원의 'AI 관제 제국'을 구축하십시오.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  <a:latin typeface="Malgun Gothic"/>
              </a:defRPr>
            </a:pPr>
            <a:r>
              <a:t>학생의 퇴원율을 0%로 막고, 학원의 가치를 압도적으로 끌어올리는 차세대 교육 OS</a:t>
            </a:r>
          </a:p>
          <a:p>
            <a:pPr>
              <a:spcBef>
                <a:spcPts val="16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PALIN OS는 단순한 학습 앱이 아닙니다. 원장님의 교육 철학과 입시 노하우를 완벽히 복제하여</a:t>
            </a:r>
            <a:br/>
            <a:r>
              <a:t>24시간 지치지 않고 일하는 '학원 전용 AI 수석 부원장'을 이식해 드리는 독점 솔루션입니다.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474720"/>
            <a:ext cx="9966960" cy="2377440"/>
          </a:xfrm>
          <a:prstGeom prst="roundRect">
            <a:avLst/>
          </a:prstGeom>
          <a:solidFill>
            <a:srgbClr val="12182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sz="1600" b="1">
                <a:solidFill>
                  <a:srgbClr val="F59E0B"/>
                </a:solidFill>
                <a:latin typeface="Malgun Gothic"/>
              </a:defRPr>
            </a:pPr>
            <a:r>
              <a:t>🏢 PALIN OS 가맹 및 B2B 시스템 도입 1:1 직통 문의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  <a:latin typeface="Malgun Gothic"/>
              </a:defRPr>
            </a:pPr>
            <a:r>
              <a:t>• 공식 제휴 이메일: 1286orbital21@gmail.com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문의 양식: [학원명 / 지역 / 원장님 성함 및 연락처 / 재원생 규모]를 기재하여 메일을 보내주시면 24시간 내 1:1 맞춤 제안서를 전달해 드립니다.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  <a:latin typeface="Malgun Gothic"/>
              </a:defRPr>
            </a:pPr>
            <a:r>
              <a:t>• 지역별 독점권 보장: 동일 상권(반경 2km 내) 선착순 1개 학원 독점 가맹 원칙 준수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